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Montserrat" panose="00000500000000000000" pitchFamily="2" charset="0"/>
      <p:regular r:id="rId11"/>
    </p:embeddedFont>
    <p:embeddedFont>
      <p:font typeface="Montserrat Bold" panose="020B0604020202020204" charset="0"/>
      <p:regular r:id="rId12"/>
    </p:embeddedFont>
    <p:embeddedFont>
      <p:font typeface="Montserrat Medium" panose="00000600000000000000" pitchFamily="2" charset="0"/>
      <p:regular r:id="rId13"/>
    </p:embeddedFont>
    <p:embeddedFont>
      <p:font typeface="Montserrat Ultra-Bold" panose="020B0604020202020204" charset="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jpe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372163" y="1028700"/>
            <a:ext cx="15543674" cy="8305800"/>
            <a:chOff x="0" y="0"/>
            <a:chExt cx="4093807" cy="2187536"/>
          </a:xfrm>
        </p:grpSpPr>
        <p:sp>
          <p:nvSpPr>
            <p:cNvPr id="4" name="Freeform 4"/>
            <p:cNvSpPr/>
            <p:nvPr/>
          </p:nvSpPr>
          <p:spPr>
            <a:xfrm>
              <a:off x="0" y="0"/>
              <a:ext cx="4093807" cy="2187536"/>
            </a:xfrm>
            <a:custGeom>
              <a:avLst/>
              <a:gdLst/>
              <a:ahLst/>
              <a:cxnLst/>
              <a:rect l="l" t="t" r="r" b="b"/>
              <a:pathLst>
                <a:path w="4093807" h="2187536">
                  <a:moveTo>
                    <a:pt x="0" y="0"/>
                  </a:moveTo>
                  <a:lnTo>
                    <a:pt x="4093807" y="0"/>
                  </a:lnTo>
                  <a:lnTo>
                    <a:pt x="4093807" y="2187536"/>
                  </a:lnTo>
                  <a:lnTo>
                    <a:pt x="0" y="2187536"/>
                  </a:lnTo>
                  <a:close/>
                </a:path>
              </a:pathLst>
            </a:custGeom>
            <a:solidFill>
              <a:srgbClr val="002269">
                <a:alpha val="69804"/>
              </a:srgbClr>
            </a:solidFill>
          </p:spPr>
        </p:sp>
        <p:sp>
          <p:nvSpPr>
            <p:cNvPr id="5" name="TextBox 5"/>
            <p:cNvSpPr txBox="1"/>
            <p:nvPr/>
          </p:nvSpPr>
          <p:spPr>
            <a:xfrm>
              <a:off x="0" y="-38100"/>
              <a:ext cx="4093807" cy="2225636"/>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04914" y="373787"/>
            <a:ext cx="1557765" cy="264218"/>
          </a:xfrm>
          <a:prstGeom prst="rect">
            <a:avLst/>
          </a:prstGeom>
        </p:spPr>
        <p:txBody>
          <a:bodyPr lIns="0" tIns="0" rIns="0" bIns="0" rtlCol="0" anchor="t">
            <a:spAutoFit/>
          </a:bodyPr>
          <a:lstStyle/>
          <a:p>
            <a:pPr algn="l">
              <a:lnSpc>
                <a:spcPts val="2235"/>
              </a:lnSpc>
              <a:spcBef>
                <a:spcPct val="0"/>
              </a:spcBef>
            </a:pPr>
            <a:r>
              <a:rPr lang="en-US" sz="1596" b="1" spc="-63">
                <a:solidFill>
                  <a:srgbClr val="FFFFFF"/>
                </a:solidFill>
                <a:latin typeface="Montserrat Medium"/>
                <a:ea typeface="Montserrat Medium"/>
                <a:cs typeface="Montserrat Medium"/>
                <a:sym typeface="Montserrat Medium"/>
              </a:rPr>
              <a:t>Modern Style</a:t>
            </a:r>
          </a:p>
        </p:txBody>
      </p:sp>
      <p:sp>
        <p:nvSpPr>
          <p:cNvPr id="7" name="TextBox 7"/>
          <p:cNvSpPr txBox="1"/>
          <p:nvPr/>
        </p:nvSpPr>
        <p:spPr>
          <a:xfrm>
            <a:off x="604914" y="9623634"/>
            <a:ext cx="1180920" cy="264218"/>
          </a:xfrm>
          <a:prstGeom prst="rect">
            <a:avLst/>
          </a:prstGeom>
        </p:spPr>
        <p:txBody>
          <a:bodyPr lIns="0" tIns="0" rIns="0" bIns="0" rtlCol="0" anchor="t">
            <a:spAutoFit/>
          </a:bodyPr>
          <a:lstStyle/>
          <a:p>
            <a:pPr algn="l">
              <a:lnSpc>
                <a:spcPts val="2235"/>
              </a:lnSpc>
              <a:spcBef>
                <a:spcPct val="0"/>
              </a:spcBef>
            </a:pPr>
            <a:r>
              <a:rPr lang="en-US" sz="1596" b="1" spc="-63">
                <a:solidFill>
                  <a:srgbClr val="FFFFFF"/>
                </a:solidFill>
                <a:latin typeface="Montserrat Medium"/>
                <a:ea typeface="Montserrat Medium"/>
                <a:cs typeface="Montserrat Medium"/>
                <a:sym typeface="Montserrat Medium"/>
              </a:rPr>
              <a:t>Borcelle</a:t>
            </a:r>
          </a:p>
        </p:txBody>
      </p:sp>
      <p:grpSp>
        <p:nvGrpSpPr>
          <p:cNvPr id="8" name="Group 8"/>
          <p:cNvGrpSpPr/>
          <p:nvPr/>
        </p:nvGrpSpPr>
        <p:grpSpPr>
          <a:xfrm>
            <a:off x="1393322" y="9801807"/>
            <a:ext cx="40903" cy="4090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0" name="TextBox 10"/>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1" name="Freeform 11"/>
          <p:cNvSpPr/>
          <p:nvPr/>
        </p:nvSpPr>
        <p:spPr>
          <a:xfrm>
            <a:off x="17240250" y="375743"/>
            <a:ext cx="433631" cy="288907"/>
          </a:xfrm>
          <a:custGeom>
            <a:avLst/>
            <a:gdLst/>
            <a:ahLst/>
            <a:cxnLst/>
            <a:rect l="l" t="t" r="r" b="b"/>
            <a:pathLst>
              <a:path w="433631" h="288907">
                <a:moveTo>
                  <a:pt x="0" y="0"/>
                </a:moveTo>
                <a:lnTo>
                  <a:pt x="433631" y="0"/>
                </a:lnTo>
                <a:lnTo>
                  <a:pt x="433631" y="288906"/>
                </a:lnTo>
                <a:lnTo>
                  <a:pt x="0" y="28890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AutoShape 13"/>
          <p:cNvSpPr/>
          <p:nvPr/>
        </p:nvSpPr>
        <p:spPr>
          <a:xfrm>
            <a:off x="8066698" y="3513060"/>
            <a:ext cx="1940561" cy="0"/>
          </a:xfrm>
          <a:prstGeom prst="line">
            <a:avLst/>
          </a:prstGeom>
          <a:ln w="38100" cap="flat">
            <a:solidFill>
              <a:srgbClr val="FFFFFF"/>
            </a:solidFill>
            <a:prstDash val="solid"/>
            <a:headEnd type="none" w="sm" len="sm"/>
            <a:tailEnd type="none" w="sm" len="sm"/>
          </a:ln>
        </p:spPr>
      </p:sp>
      <p:grpSp>
        <p:nvGrpSpPr>
          <p:cNvPr id="14" name="Group 14"/>
          <p:cNvGrpSpPr/>
          <p:nvPr/>
        </p:nvGrpSpPr>
        <p:grpSpPr>
          <a:xfrm>
            <a:off x="8632669" y="7344489"/>
            <a:ext cx="214042" cy="21404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036979" y="7344489"/>
            <a:ext cx="214042" cy="21404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9463512" y="7344489"/>
            <a:ext cx="214042" cy="2140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272158" y="3741660"/>
            <a:ext cx="12382708" cy="2095500"/>
          </a:xfrm>
          <a:prstGeom prst="rect">
            <a:avLst/>
          </a:prstGeom>
        </p:spPr>
        <p:txBody>
          <a:bodyPr lIns="0" tIns="0" rIns="0" bIns="0" rtlCol="0" anchor="t">
            <a:spAutoFit/>
          </a:bodyPr>
          <a:lstStyle/>
          <a:p>
            <a:pPr algn="ctr">
              <a:lnSpc>
                <a:spcPts val="8400"/>
              </a:lnSpc>
              <a:spcBef>
                <a:spcPct val="0"/>
              </a:spcBef>
            </a:pPr>
            <a:r>
              <a:rPr lang="en-US" sz="6000" b="1">
                <a:solidFill>
                  <a:srgbClr val="FFFFFF"/>
                </a:solidFill>
                <a:latin typeface="Montserrat Bold"/>
                <a:ea typeface="Montserrat Bold"/>
                <a:cs typeface="Montserrat Bold"/>
                <a:sym typeface="Montserrat Bold"/>
              </a:rPr>
              <a:t>COMPARATIVE ANALYSIS OF DEPRECIATION METHODS</a:t>
            </a:r>
          </a:p>
        </p:txBody>
      </p:sp>
      <p:sp>
        <p:nvSpPr>
          <p:cNvPr id="24" name="TextBox 24"/>
          <p:cNvSpPr txBox="1"/>
          <p:nvPr/>
        </p:nvSpPr>
        <p:spPr>
          <a:xfrm>
            <a:off x="4414853" y="6107238"/>
            <a:ext cx="10311360" cy="1047750"/>
          </a:xfrm>
          <a:prstGeom prst="rect">
            <a:avLst/>
          </a:prstGeom>
        </p:spPr>
        <p:txBody>
          <a:bodyPr lIns="0" tIns="0" rIns="0" bIns="0" rtlCol="0" anchor="t">
            <a:spAutoFit/>
          </a:bodyPr>
          <a:lstStyle/>
          <a:p>
            <a:pPr algn="ctr">
              <a:lnSpc>
                <a:spcPts val="4200"/>
              </a:lnSpc>
              <a:spcBef>
                <a:spcPct val="0"/>
              </a:spcBef>
            </a:pPr>
            <a:r>
              <a:rPr lang="en-US" sz="3000">
                <a:solidFill>
                  <a:srgbClr val="FFFFFF"/>
                </a:solidFill>
                <a:latin typeface="Montserrat"/>
                <a:ea typeface="Montserrat"/>
                <a:cs typeface="Montserrat"/>
                <a:sym typeface="Montserrat"/>
              </a:rPr>
              <a:t>Excel-driven model, 10-year schedules, advanced calculations &amp; insights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2613" y="1103775"/>
            <a:ext cx="15558978" cy="8081777"/>
            <a:chOff x="0" y="0"/>
            <a:chExt cx="2410493" cy="1252079"/>
          </a:xfrm>
        </p:grpSpPr>
        <p:sp>
          <p:nvSpPr>
            <p:cNvPr id="3" name="Freeform 3"/>
            <p:cNvSpPr/>
            <p:nvPr/>
          </p:nvSpPr>
          <p:spPr>
            <a:xfrm>
              <a:off x="0" y="0"/>
              <a:ext cx="2410493" cy="1252079"/>
            </a:xfrm>
            <a:custGeom>
              <a:avLst/>
              <a:gdLst/>
              <a:ahLst/>
              <a:cxnLst/>
              <a:rect l="l" t="t" r="r" b="b"/>
              <a:pathLst>
                <a:path w="2410493" h="1252079">
                  <a:moveTo>
                    <a:pt x="0" y="0"/>
                  </a:moveTo>
                  <a:lnTo>
                    <a:pt x="2410493" y="0"/>
                  </a:lnTo>
                  <a:lnTo>
                    <a:pt x="2410493" y="1252079"/>
                  </a:lnTo>
                  <a:lnTo>
                    <a:pt x="0" y="1252079"/>
                  </a:lnTo>
                  <a:close/>
                </a:path>
              </a:pathLst>
            </a:custGeom>
            <a:blipFill>
              <a:blip r:embed="rId2"/>
              <a:stretch>
                <a:fillRect t="-14132" b="-14132"/>
              </a:stretch>
            </a:blipFill>
          </p:spPr>
        </p:sp>
      </p:grpSp>
      <p:grpSp>
        <p:nvGrpSpPr>
          <p:cNvPr id="4" name="Group 4"/>
          <p:cNvGrpSpPr/>
          <p:nvPr/>
        </p:nvGrpSpPr>
        <p:grpSpPr>
          <a:xfrm>
            <a:off x="6057941" y="5144664"/>
            <a:ext cx="11623961" cy="3524396"/>
            <a:chOff x="0" y="0"/>
            <a:chExt cx="3061455" cy="928236"/>
          </a:xfrm>
        </p:grpSpPr>
        <p:sp>
          <p:nvSpPr>
            <p:cNvPr id="5" name="Freeform 5"/>
            <p:cNvSpPr/>
            <p:nvPr/>
          </p:nvSpPr>
          <p:spPr>
            <a:xfrm>
              <a:off x="0" y="0"/>
              <a:ext cx="3061455" cy="928236"/>
            </a:xfrm>
            <a:custGeom>
              <a:avLst/>
              <a:gdLst/>
              <a:ahLst/>
              <a:cxnLst/>
              <a:rect l="l" t="t" r="r" b="b"/>
              <a:pathLst>
                <a:path w="3061455" h="928236">
                  <a:moveTo>
                    <a:pt x="0" y="0"/>
                  </a:moveTo>
                  <a:lnTo>
                    <a:pt x="3061455" y="0"/>
                  </a:lnTo>
                  <a:lnTo>
                    <a:pt x="3061455" y="928236"/>
                  </a:lnTo>
                  <a:lnTo>
                    <a:pt x="0" y="928236"/>
                  </a:lnTo>
                  <a:close/>
                </a:path>
              </a:pathLst>
            </a:custGeom>
            <a:solidFill>
              <a:srgbClr val="FFFFFF"/>
            </a:solidFill>
          </p:spPr>
        </p:sp>
        <p:sp>
          <p:nvSpPr>
            <p:cNvPr id="6" name="TextBox 6"/>
            <p:cNvSpPr txBox="1"/>
            <p:nvPr/>
          </p:nvSpPr>
          <p:spPr>
            <a:xfrm>
              <a:off x="0" y="-38100"/>
              <a:ext cx="3061455" cy="966336"/>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2328"/>
            <a:ext cx="1162613" cy="1101447"/>
            <a:chOff x="0" y="0"/>
            <a:chExt cx="306203" cy="290093"/>
          </a:xfrm>
        </p:grpSpPr>
        <p:sp>
          <p:nvSpPr>
            <p:cNvPr id="8" name="Freeform 8"/>
            <p:cNvSpPr/>
            <p:nvPr/>
          </p:nvSpPr>
          <p:spPr>
            <a:xfrm>
              <a:off x="0" y="0"/>
              <a:ext cx="306203" cy="290093"/>
            </a:xfrm>
            <a:custGeom>
              <a:avLst/>
              <a:gdLst/>
              <a:ahLst/>
              <a:cxnLst/>
              <a:rect l="l" t="t" r="r" b="b"/>
              <a:pathLst>
                <a:path w="306203" h="290093">
                  <a:moveTo>
                    <a:pt x="0" y="0"/>
                  </a:moveTo>
                  <a:lnTo>
                    <a:pt x="306203" y="0"/>
                  </a:lnTo>
                  <a:lnTo>
                    <a:pt x="306203" y="290093"/>
                  </a:lnTo>
                  <a:lnTo>
                    <a:pt x="0" y="290093"/>
                  </a:lnTo>
                  <a:close/>
                </a:path>
              </a:pathLst>
            </a:custGeom>
            <a:solidFill>
              <a:srgbClr val="002269"/>
            </a:solidFill>
          </p:spPr>
        </p:sp>
        <p:sp>
          <p:nvSpPr>
            <p:cNvPr id="9" name="TextBox 9"/>
            <p:cNvSpPr txBox="1"/>
            <p:nvPr/>
          </p:nvSpPr>
          <p:spPr>
            <a:xfrm>
              <a:off x="0" y="-38100"/>
              <a:ext cx="306203" cy="3281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1103775"/>
            <a:ext cx="1162613" cy="9183225"/>
            <a:chOff x="0" y="0"/>
            <a:chExt cx="306203" cy="2418627"/>
          </a:xfrm>
        </p:grpSpPr>
        <p:sp>
          <p:nvSpPr>
            <p:cNvPr id="11" name="Freeform 11"/>
            <p:cNvSpPr/>
            <p:nvPr/>
          </p:nvSpPr>
          <p:spPr>
            <a:xfrm>
              <a:off x="0" y="0"/>
              <a:ext cx="306203" cy="2418627"/>
            </a:xfrm>
            <a:custGeom>
              <a:avLst/>
              <a:gdLst/>
              <a:ahLst/>
              <a:cxnLst/>
              <a:rect l="l" t="t" r="r" b="b"/>
              <a:pathLst>
                <a:path w="306203" h="2418627">
                  <a:moveTo>
                    <a:pt x="0" y="0"/>
                  </a:moveTo>
                  <a:lnTo>
                    <a:pt x="306203" y="0"/>
                  </a:lnTo>
                  <a:lnTo>
                    <a:pt x="306203" y="2418627"/>
                  </a:lnTo>
                  <a:lnTo>
                    <a:pt x="0" y="2418627"/>
                  </a:lnTo>
                  <a:close/>
                </a:path>
              </a:pathLst>
            </a:custGeom>
            <a:solidFill>
              <a:srgbClr val="4C6496"/>
            </a:solidFill>
          </p:spPr>
        </p:sp>
        <p:sp>
          <p:nvSpPr>
            <p:cNvPr id="12" name="TextBox 12"/>
            <p:cNvSpPr txBox="1"/>
            <p:nvPr/>
          </p:nvSpPr>
          <p:spPr>
            <a:xfrm>
              <a:off x="0" y="-38100"/>
              <a:ext cx="306203" cy="2456727"/>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364491" y="408598"/>
            <a:ext cx="433631" cy="288907"/>
          </a:xfrm>
          <a:custGeom>
            <a:avLst/>
            <a:gdLst/>
            <a:ahLst/>
            <a:cxnLst/>
            <a:rect l="l" t="t" r="r" b="b"/>
            <a:pathLst>
              <a:path w="433631" h="288907">
                <a:moveTo>
                  <a:pt x="0" y="0"/>
                </a:moveTo>
                <a:lnTo>
                  <a:pt x="433631" y="0"/>
                </a:lnTo>
                <a:lnTo>
                  <a:pt x="433631" y="288907"/>
                </a:lnTo>
                <a:lnTo>
                  <a:pt x="0" y="2889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6840116" y="9677014"/>
            <a:ext cx="281957" cy="28195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261009" y="9677014"/>
            <a:ext cx="281957" cy="28195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7681902" y="9677014"/>
            <a:ext cx="281957" cy="28195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6057941" y="3350400"/>
            <a:ext cx="10057553" cy="1226820"/>
          </a:xfrm>
          <a:prstGeom prst="rect">
            <a:avLst/>
          </a:prstGeom>
        </p:spPr>
        <p:txBody>
          <a:bodyPr lIns="0" tIns="0" rIns="0" bIns="0" rtlCol="0" anchor="t">
            <a:spAutoFit/>
          </a:bodyPr>
          <a:lstStyle/>
          <a:p>
            <a:pPr algn="l">
              <a:lnSpc>
                <a:spcPts val="10080"/>
              </a:lnSpc>
              <a:spcBef>
                <a:spcPct val="0"/>
              </a:spcBef>
            </a:pPr>
            <a:r>
              <a:rPr lang="en-US" sz="7200" b="1" spc="-172">
                <a:solidFill>
                  <a:srgbClr val="FFFFFF"/>
                </a:solidFill>
                <a:latin typeface="Montserrat Ultra-Bold"/>
                <a:ea typeface="Montserrat Ultra-Bold"/>
                <a:cs typeface="Montserrat Ultra-Bold"/>
                <a:sym typeface="Montserrat Ultra-Bold"/>
              </a:rPr>
              <a:t>Introduction</a:t>
            </a:r>
          </a:p>
        </p:txBody>
      </p:sp>
      <p:sp>
        <p:nvSpPr>
          <p:cNvPr id="24" name="TextBox 24"/>
          <p:cNvSpPr txBox="1"/>
          <p:nvPr/>
        </p:nvSpPr>
        <p:spPr>
          <a:xfrm>
            <a:off x="6791936" y="5395054"/>
            <a:ext cx="9575632" cy="2947416"/>
          </a:xfrm>
          <a:prstGeom prst="rect">
            <a:avLst/>
          </a:prstGeom>
        </p:spPr>
        <p:txBody>
          <a:bodyPr lIns="0" tIns="0" rIns="0" bIns="0" rtlCol="0" anchor="t">
            <a:spAutoFit/>
          </a:bodyPr>
          <a:lstStyle/>
          <a:p>
            <a:pPr algn="just">
              <a:lnSpc>
                <a:spcPts val="2952"/>
              </a:lnSpc>
            </a:pPr>
            <a:r>
              <a:rPr lang="en-US" sz="1800" b="1">
                <a:solidFill>
                  <a:srgbClr val="2B2B2B"/>
                </a:solidFill>
                <a:latin typeface="Montserrat Medium"/>
                <a:ea typeface="Montserrat Medium"/>
                <a:cs typeface="Montserrat Medium"/>
                <a:sym typeface="Montserrat Medium"/>
              </a:rPr>
              <a:t>Depreciation is the systematic allocation of the cost of a tangible asset over its useful life. It reflects the reduction in value of an asset as it is used over time. </a:t>
            </a:r>
          </a:p>
          <a:p>
            <a:pPr algn="just">
              <a:lnSpc>
                <a:spcPts val="2952"/>
              </a:lnSpc>
            </a:pPr>
            <a:endParaRPr lang="en-US" sz="1800" b="1">
              <a:solidFill>
                <a:srgbClr val="2B2B2B"/>
              </a:solidFill>
              <a:latin typeface="Montserrat Medium"/>
              <a:ea typeface="Montserrat Medium"/>
              <a:cs typeface="Montserrat Medium"/>
              <a:sym typeface="Montserrat Medium"/>
            </a:endParaRPr>
          </a:p>
          <a:p>
            <a:pPr algn="just">
              <a:lnSpc>
                <a:spcPts val="2952"/>
              </a:lnSpc>
            </a:pPr>
            <a:r>
              <a:rPr lang="en-US" sz="1800" b="1">
                <a:solidFill>
                  <a:srgbClr val="2B2B2B"/>
                </a:solidFill>
                <a:latin typeface="Montserrat Medium"/>
                <a:ea typeface="Montserrat Medium"/>
                <a:cs typeface="Montserrat Medium"/>
                <a:sym typeface="Montserrat Medium"/>
              </a:rPr>
              <a:t>The scope of this comparative analysis includes understanding the key differences between the Straight-Line and Diminishing Balance methods of depreciation. This analysis will help determine which method is more suitable under different circumstances, considering factors like asset cost, additional costs, asset lifespan, and salvage value.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11175" y="2328"/>
            <a:ext cx="5076825" cy="10284672"/>
            <a:chOff x="0" y="0"/>
            <a:chExt cx="1337106" cy="2708720"/>
          </a:xfrm>
        </p:grpSpPr>
        <p:sp>
          <p:nvSpPr>
            <p:cNvPr id="3" name="Freeform 3"/>
            <p:cNvSpPr/>
            <p:nvPr/>
          </p:nvSpPr>
          <p:spPr>
            <a:xfrm>
              <a:off x="0" y="0"/>
              <a:ext cx="1337106" cy="2708720"/>
            </a:xfrm>
            <a:custGeom>
              <a:avLst/>
              <a:gdLst/>
              <a:ahLst/>
              <a:cxnLst/>
              <a:rect l="l" t="t" r="r" b="b"/>
              <a:pathLst>
                <a:path w="1337106" h="2708720">
                  <a:moveTo>
                    <a:pt x="0" y="0"/>
                  </a:moveTo>
                  <a:lnTo>
                    <a:pt x="1337106" y="0"/>
                  </a:lnTo>
                  <a:lnTo>
                    <a:pt x="1337106" y="2708720"/>
                  </a:lnTo>
                  <a:lnTo>
                    <a:pt x="0" y="2708720"/>
                  </a:lnTo>
                  <a:close/>
                </a:path>
              </a:pathLst>
            </a:custGeom>
            <a:solidFill>
              <a:srgbClr val="002269"/>
            </a:solidFill>
          </p:spPr>
        </p:sp>
        <p:sp>
          <p:nvSpPr>
            <p:cNvPr id="4" name="TextBox 4"/>
            <p:cNvSpPr txBox="1"/>
            <p:nvPr/>
          </p:nvSpPr>
          <p:spPr>
            <a:xfrm>
              <a:off x="0" y="-38100"/>
              <a:ext cx="1337106" cy="274682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660786" y="1386073"/>
            <a:ext cx="7481778" cy="7514854"/>
            <a:chOff x="0" y="0"/>
            <a:chExt cx="1159123" cy="1164248"/>
          </a:xfrm>
        </p:grpSpPr>
        <p:sp>
          <p:nvSpPr>
            <p:cNvPr id="6" name="Freeform 6"/>
            <p:cNvSpPr/>
            <p:nvPr/>
          </p:nvSpPr>
          <p:spPr>
            <a:xfrm>
              <a:off x="0" y="0"/>
              <a:ext cx="1159123" cy="1164248"/>
            </a:xfrm>
            <a:custGeom>
              <a:avLst/>
              <a:gdLst/>
              <a:ahLst/>
              <a:cxnLst/>
              <a:rect l="l" t="t" r="r" b="b"/>
              <a:pathLst>
                <a:path w="1159123" h="1164248">
                  <a:moveTo>
                    <a:pt x="0" y="0"/>
                  </a:moveTo>
                  <a:lnTo>
                    <a:pt x="1159123" y="0"/>
                  </a:lnTo>
                  <a:lnTo>
                    <a:pt x="1159123" y="1164248"/>
                  </a:lnTo>
                  <a:lnTo>
                    <a:pt x="0" y="1164248"/>
                  </a:lnTo>
                  <a:close/>
                </a:path>
              </a:pathLst>
            </a:custGeom>
            <a:blipFill>
              <a:blip r:embed="rId2"/>
              <a:stretch>
                <a:fillRect t="-24716" b="-24716"/>
              </a:stretch>
            </a:blipFill>
          </p:spPr>
        </p:sp>
      </p:grpSp>
      <p:grpSp>
        <p:nvGrpSpPr>
          <p:cNvPr id="7" name="Group 7"/>
          <p:cNvGrpSpPr/>
          <p:nvPr/>
        </p:nvGrpSpPr>
        <p:grpSpPr>
          <a:xfrm>
            <a:off x="0" y="2328"/>
            <a:ext cx="1162613" cy="1101447"/>
            <a:chOff x="0" y="0"/>
            <a:chExt cx="306203" cy="290093"/>
          </a:xfrm>
        </p:grpSpPr>
        <p:sp>
          <p:nvSpPr>
            <p:cNvPr id="8" name="Freeform 8"/>
            <p:cNvSpPr/>
            <p:nvPr/>
          </p:nvSpPr>
          <p:spPr>
            <a:xfrm>
              <a:off x="0" y="0"/>
              <a:ext cx="306203" cy="290093"/>
            </a:xfrm>
            <a:custGeom>
              <a:avLst/>
              <a:gdLst/>
              <a:ahLst/>
              <a:cxnLst/>
              <a:rect l="l" t="t" r="r" b="b"/>
              <a:pathLst>
                <a:path w="306203" h="290093">
                  <a:moveTo>
                    <a:pt x="0" y="0"/>
                  </a:moveTo>
                  <a:lnTo>
                    <a:pt x="306203" y="0"/>
                  </a:lnTo>
                  <a:lnTo>
                    <a:pt x="306203" y="290093"/>
                  </a:lnTo>
                  <a:lnTo>
                    <a:pt x="0" y="290093"/>
                  </a:lnTo>
                  <a:close/>
                </a:path>
              </a:pathLst>
            </a:custGeom>
            <a:solidFill>
              <a:srgbClr val="002269"/>
            </a:solidFill>
          </p:spPr>
        </p:sp>
        <p:sp>
          <p:nvSpPr>
            <p:cNvPr id="9" name="TextBox 9"/>
            <p:cNvSpPr txBox="1"/>
            <p:nvPr/>
          </p:nvSpPr>
          <p:spPr>
            <a:xfrm>
              <a:off x="0" y="-38100"/>
              <a:ext cx="306203" cy="3281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1103775"/>
            <a:ext cx="1162613" cy="9183225"/>
            <a:chOff x="0" y="0"/>
            <a:chExt cx="306203" cy="2418627"/>
          </a:xfrm>
        </p:grpSpPr>
        <p:sp>
          <p:nvSpPr>
            <p:cNvPr id="11" name="Freeform 11"/>
            <p:cNvSpPr/>
            <p:nvPr/>
          </p:nvSpPr>
          <p:spPr>
            <a:xfrm>
              <a:off x="0" y="0"/>
              <a:ext cx="306203" cy="2418627"/>
            </a:xfrm>
            <a:custGeom>
              <a:avLst/>
              <a:gdLst/>
              <a:ahLst/>
              <a:cxnLst/>
              <a:rect l="l" t="t" r="r" b="b"/>
              <a:pathLst>
                <a:path w="306203" h="2418627">
                  <a:moveTo>
                    <a:pt x="0" y="0"/>
                  </a:moveTo>
                  <a:lnTo>
                    <a:pt x="306203" y="0"/>
                  </a:lnTo>
                  <a:lnTo>
                    <a:pt x="306203" y="2418627"/>
                  </a:lnTo>
                  <a:lnTo>
                    <a:pt x="0" y="2418627"/>
                  </a:lnTo>
                  <a:close/>
                </a:path>
              </a:pathLst>
            </a:custGeom>
            <a:solidFill>
              <a:srgbClr val="4C6496"/>
            </a:solidFill>
          </p:spPr>
        </p:sp>
        <p:sp>
          <p:nvSpPr>
            <p:cNvPr id="12" name="TextBox 12"/>
            <p:cNvSpPr txBox="1"/>
            <p:nvPr/>
          </p:nvSpPr>
          <p:spPr>
            <a:xfrm>
              <a:off x="0" y="-38100"/>
              <a:ext cx="306203" cy="2456727"/>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364491" y="408598"/>
            <a:ext cx="433631" cy="288907"/>
          </a:xfrm>
          <a:custGeom>
            <a:avLst/>
            <a:gdLst/>
            <a:ahLst/>
            <a:cxnLst/>
            <a:rect l="l" t="t" r="r" b="b"/>
            <a:pathLst>
              <a:path w="433631" h="288907">
                <a:moveTo>
                  <a:pt x="0" y="0"/>
                </a:moveTo>
                <a:lnTo>
                  <a:pt x="433631" y="0"/>
                </a:lnTo>
                <a:lnTo>
                  <a:pt x="433631" y="288907"/>
                </a:lnTo>
                <a:lnTo>
                  <a:pt x="0" y="2889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6840116" y="9677014"/>
            <a:ext cx="281957" cy="28195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261009" y="9677014"/>
            <a:ext cx="281957" cy="28195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7681902" y="9677014"/>
            <a:ext cx="281957" cy="28195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AutoShape 23"/>
          <p:cNvSpPr/>
          <p:nvPr/>
        </p:nvSpPr>
        <p:spPr>
          <a:xfrm>
            <a:off x="2344786" y="4579436"/>
            <a:ext cx="6000083" cy="0"/>
          </a:xfrm>
          <a:prstGeom prst="line">
            <a:avLst/>
          </a:prstGeom>
          <a:ln w="28575" cap="flat">
            <a:solidFill>
              <a:srgbClr val="97D22A"/>
            </a:solidFill>
            <a:prstDash val="solid"/>
            <a:headEnd type="none" w="sm" len="sm"/>
            <a:tailEnd type="none" w="sm" len="sm"/>
          </a:ln>
        </p:spPr>
      </p:sp>
      <p:sp>
        <p:nvSpPr>
          <p:cNvPr id="24" name="AutoShape 24"/>
          <p:cNvSpPr/>
          <p:nvPr/>
        </p:nvSpPr>
        <p:spPr>
          <a:xfrm>
            <a:off x="2344786" y="5345329"/>
            <a:ext cx="6000083" cy="0"/>
          </a:xfrm>
          <a:prstGeom prst="line">
            <a:avLst/>
          </a:prstGeom>
          <a:ln w="28575" cap="flat">
            <a:solidFill>
              <a:srgbClr val="97D22A"/>
            </a:solidFill>
            <a:prstDash val="solid"/>
            <a:headEnd type="none" w="sm" len="sm"/>
            <a:tailEnd type="none" w="sm" len="sm"/>
          </a:ln>
        </p:spPr>
      </p:sp>
      <p:sp>
        <p:nvSpPr>
          <p:cNvPr id="25" name="AutoShape 25"/>
          <p:cNvSpPr/>
          <p:nvPr/>
        </p:nvSpPr>
        <p:spPr>
          <a:xfrm>
            <a:off x="2344786" y="6111222"/>
            <a:ext cx="6000083" cy="0"/>
          </a:xfrm>
          <a:prstGeom prst="line">
            <a:avLst/>
          </a:prstGeom>
          <a:ln w="28575" cap="flat">
            <a:solidFill>
              <a:srgbClr val="97D22A"/>
            </a:solidFill>
            <a:prstDash val="solid"/>
            <a:headEnd type="none" w="sm" len="sm"/>
            <a:tailEnd type="none" w="sm" len="sm"/>
          </a:ln>
        </p:spPr>
      </p:sp>
      <p:sp>
        <p:nvSpPr>
          <p:cNvPr id="26" name="AutoShape 26"/>
          <p:cNvSpPr/>
          <p:nvPr/>
        </p:nvSpPr>
        <p:spPr>
          <a:xfrm>
            <a:off x="2344786" y="6877114"/>
            <a:ext cx="6000083" cy="0"/>
          </a:xfrm>
          <a:prstGeom prst="line">
            <a:avLst/>
          </a:prstGeom>
          <a:ln w="28575" cap="flat">
            <a:solidFill>
              <a:srgbClr val="97D22A"/>
            </a:solidFill>
            <a:prstDash val="solid"/>
            <a:headEnd type="none" w="sm" len="sm"/>
            <a:tailEnd type="none" w="sm" len="sm"/>
          </a:ln>
        </p:spPr>
      </p:sp>
      <p:sp>
        <p:nvSpPr>
          <p:cNvPr id="27" name="AutoShape 27"/>
          <p:cNvSpPr/>
          <p:nvPr/>
        </p:nvSpPr>
        <p:spPr>
          <a:xfrm>
            <a:off x="2344786" y="7643007"/>
            <a:ext cx="6000083" cy="0"/>
          </a:xfrm>
          <a:prstGeom prst="line">
            <a:avLst/>
          </a:prstGeom>
          <a:ln w="28575" cap="flat">
            <a:solidFill>
              <a:srgbClr val="97D22A"/>
            </a:solidFill>
            <a:prstDash val="solid"/>
            <a:headEnd type="none" w="sm" len="sm"/>
            <a:tailEnd type="none" w="sm" len="sm"/>
          </a:ln>
        </p:spPr>
      </p:sp>
      <p:sp>
        <p:nvSpPr>
          <p:cNvPr id="28" name="Freeform 28"/>
          <p:cNvSpPr/>
          <p:nvPr/>
        </p:nvSpPr>
        <p:spPr>
          <a:xfrm rot="-10800000">
            <a:off x="3209987" y="-2399495"/>
            <a:ext cx="4270075" cy="4114800"/>
          </a:xfrm>
          <a:custGeom>
            <a:avLst/>
            <a:gdLst/>
            <a:ahLst/>
            <a:cxnLst/>
            <a:rect l="l" t="t" r="r" b="b"/>
            <a:pathLst>
              <a:path w="4270075" h="4114800">
                <a:moveTo>
                  <a:pt x="0" y="0"/>
                </a:moveTo>
                <a:lnTo>
                  <a:pt x="4270075" y="0"/>
                </a:lnTo>
                <a:lnTo>
                  <a:pt x="427007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29" name="TextBox 29"/>
          <p:cNvSpPr txBox="1"/>
          <p:nvPr/>
        </p:nvSpPr>
        <p:spPr>
          <a:xfrm>
            <a:off x="2344786" y="2583480"/>
            <a:ext cx="6618266" cy="844586"/>
          </a:xfrm>
          <a:prstGeom prst="rect">
            <a:avLst/>
          </a:prstGeom>
        </p:spPr>
        <p:txBody>
          <a:bodyPr lIns="0" tIns="0" rIns="0" bIns="0" rtlCol="0" anchor="t">
            <a:spAutoFit/>
          </a:bodyPr>
          <a:lstStyle/>
          <a:p>
            <a:pPr algn="l">
              <a:lnSpc>
                <a:spcPts val="6998"/>
              </a:lnSpc>
            </a:pPr>
            <a:r>
              <a:rPr lang="en-US" sz="4998" b="1" spc="-219">
                <a:solidFill>
                  <a:srgbClr val="2B2B2B"/>
                </a:solidFill>
                <a:latin typeface="Montserrat Medium"/>
                <a:ea typeface="Montserrat Medium"/>
                <a:cs typeface="Montserrat Medium"/>
                <a:sym typeface="Montserrat Medium"/>
              </a:rPr>
              <a:t>Input Assumptions</a:t>
            </a:r>
          </a:p>
        </p:txBody>
      </p:sp>
      <p:sp>
        <p:nvSpPr>
          <p:cNvPr id="30" name="TextBox 30"/>
          <p:cNvSpPr txBox="1"/>
          <p:nvPr/>
        </p:nvSpPr>
        <p:spPr>
          <a:xfrm>
            <a:off x="2344786" y="4123391"/>
            <a:ext cx="5336296" cy="400271"/>
          </a:xfrm>
          <a:prstGeom prst="rect">
            <a:avLst/>
          </a:prstGeom>
        </p:spPr>
        <p:txBody>
          <a:bodyPr lIns="0" tIns="0" rIns="0" bIns="0" rtlCol="0" anchor="t">
            <a:spAutoFit/>
          </a:bodyPr>
          <a:lstStyle/>
          <a:p>
            <a:pPr algn="l">
              <a:lnSpc>
                <a:spcPts val="3358"/>
              </a:lnSpc>
              <a:spcBef>
                <a:spcPct val="0"/>
              </a:spcBef>
            </a:pPr>
            <a:r>
              <a:rPr lang="en-US" sz="2398" b="1" spc="-105">
                <a:solidFill>
                  <a:srgbClr val="2B2B2B"/>
                </a:solidFill>
                <a:latin typeface="Montserrat Medium"/>
                <a:ea typeface="Montserrat Medium"/>
                <a:cs typeface="Montserrat Medium"/>
                <a:sym typeface="Montserrat Medium"/>
              </a:rPr>
              <a:t>Asset Cost</a:t>
            </a:r>
          </a:p>
        </p:txBody>
      </p:sp>
      <p:sp>
        <p:nvSpPr>
          <p:cNvPr id="31" name="TextBox 31"/>
          <p:cNvSpPr txBox="1"/>
          <p:nvPr/>
        </p:nvSpPr>
        <p:spPr>
          <a:xfrm>
            <a:off x="6663512" y="4065917"/>
            <a:ext cx="1681357" cy="823367"/>
          </a:xfrm>
          <a:prstGeom prst="rect">
            <a:avLst/>
          </a:prstGeom>
        </p:spPr>
        <p:txBody>
          <a:bodyPr lIns="0" tIns="0" rIns="0" bIns="0" rtlCol="0" anchor="t">
            <a:spAutoFit/>
          </a:bodyPr>
          <a:lstStyle/>
          <a:p>
            <a:pPr algn="r">
              <a:lnSpc>
                <a:spcPts val="3358"/>
              </a:lnSpc>
            </a:pPr>
            <a:r>
              <a:rPr lang="en-US" sz="2398" b="1" spc="-105">
                <a:solidFill>
                  <a:srgbClr val="2B2B2B"/>
                </a:solidFill>
                <a:latin typeface="Montserrat Medium"/>
                <a:ea typeface="Montserrat Medium"/>
                <a:cs typeface="Montserrat Medium"/>
                <a:sym typeface="Montserrat Medium"/>
              </a:rPr>
              <a:t>450,000</a:t>
            </a:r>
          </a:p>
          <a:p>
            <a:pPr algn="r">
              <a:lnSpc>
                <a:spcPts val="3358"/>
              </a:lnSpc>
              <a:spcBef>
                <a:spcPct val="0"/>
              </a:spcBef>
            </a:pPr>
            <a:endParaRPr lang="en-US" sz="2398" b="1" spc="-105">
              <a:solidFill>
                <a:srgbClr val="2B2B2B"/>
              </a:solidFill>
              <a:latin typeface="Montserrat Medium"/>
              <a:ea typeface="Montserrat Medium"/>
              <a:cs typeface="Montserrat Medium"/>
              <a:sym typeface="Montserrat Medium"/>
            </a:endParaRPr>
          </a:p>
        </p:txBody>
      </p:sp>
      <p:sp>
        <p:nvSpPr>
          <p:cNvPr id="32" name="TextBox 32"/>
          <p:cNvSpPr txBox="1"/>
          <p:nvPr/>
        </p:nvSpPr>
        <p:spPr>
          <a:xfrm>
            <a:off x="2344786" y="4889284"/>
            <a:ext cx="5336296" cy="400271"/>
          </a:xfrm>
          <a:prstGeom prst="rect">
            <a:avLst/>
          </a:prstGeom>
        </p:spPr>
        <p:txBody>
          <a:bodyPr lIns="0" tIns="0" rIns="0" bIns="0" rtlCol="0" anchor="t">
            <a:spAutoFit/>
          </a:bodyPr>
          <a:lstStyle/>
          <a:p>
            <a:pPr algn="l">
              <a:lnSpc>
                <a:spcPts val="3358"/>
              </a:lnSpc>
              <a:spcBef>
                <a:spcPct val="0"/>
              </a:spcBef>
            </a:pPr>
            <a:r>
              <a:rPr lang="en-US" sz="2398" b="1" spc="-105">
                <a:solidFill>
                  <a:srgbClr val="2B2B2B"/>
                </a:solidFill>
                <a:latin typeface="Montserrat Medium"/>
                <a:ea typeface="Montserrat Medium"/>
                <a:cs typeface="Montserrat Medium"/>
                <a:sym typeface="Montserrat Medium"/>
              </a:rPr>
              <a:t>Additional Cost</a:t>
            </a:r>
          </a:p>
        </p:txBody>
      </p:sp>
      <p:sp>
        <p:nvSpPr>
          <p:cNvPr id="33" name="TextBox 33"/>
          <p:cNvSpPr txBox="1"/>
          <p:nvPr/>
        </p:nvSpPr>
        <p:spPr>
          <a:xfrm>
            <a:off x="7040097" y="4831810"/>
            <a:ext cx="1281970" cy="823367"/>
          </a:xfrm>
          <a:prstGeom prst="rect">
            <a:avLst/>
          </a:prstGeom>
        </p:spPr>
        <p:txBody>
          <a:bodyPr lIns="0" tIns="0" rIns="0" bIns="0" rtlCol="0" anchor="t">
            <a:spAutoFit/>
          </a:bodyPr>
          <a:lstStyle/>
          <a:p>
            <a:pPr algn="r">
              <a:lnSpc>
                <a:spcPts val="3358"/>
              </a:lnSpc>
            </a:pPr>
            <a:r>
              <a:rPr lang="en-US" sz="2398" b="1" spc="-105">
                <a:solidFill>
                  <a:srgbClr val="2B2B2B"/>
                </a:solidFill>
                <a:latin typeface="Montserrat Medium"/>
                <a:ea typeface="Montserrat Medium"/>
                <a:cs typeface="Montserrat Medium"/>
                <a:sym typeface="Montserrat Medium"/>
              </a:rPr>
              <a:t>50,000</a:t>
            </a:r>
          </a:p>
          <a:p>
            <a:pPr algn="r">
              <a:lnSpc>
                <a:spcPts val="3358"/>
              </a:lnSpc>
              <a:spcBef>
                <a:spcPct val="0"/>
              </a:spcBef>
            </a:pPr>
            <a:endParaRPr lang="en-US" sz="2398" b="1" spc="-105">
              <a:solidFill>
                <a:srgbClr val="2B2B2B"/>
              </a:solidFill>
              <a:latin typeface="Montserrat Medium"/>
              <a:ea typeface="Montserrat Medium"/>
              <a:cs typeface="Montserrat Medium"/>
              <a:sym typeface="Montserrat Medium"/>
            </a:endParaRPr>
          </a:p>
        </p:txBody>
      </p:sp>
      <p:sp>
        <p:nvSpPr>
          <p:cNvPr id="34" name="TextBox 34"/>
          <p:cNvSpPr txBox="1"/>
          <p:nvPr/>
        </p:nvSpPr>
        <p:spPr>
          <a:xfrm>
            <a:off x="2344786" y="5655177"/>
            <a:ext cx="5336296" cy="400271"/>
          </a:xfrm>
          <a:prstGeom prst="rect">
            <a:avLst/>
          </a:prstGeom>
        </p:spPr>
        <p:txBody>
          <a:bodyPr lIns="0" tIns="0" rIns="0" bIns="0" rtlCol="0" anchor="t">
            <a:spAutoFit/>
          </a:bodyPr>
          <a:lstStyle/>
          <a:p>
            <a:pPr algn="l">
              <a:lnSpc>
                <a:spcPts val="3358"/>
              </a:lnSpc>
              <a:spcBef>
                <a:spcPct val="0"/>
              </a:spcBef>
            </a:pPr>
            <a:r>
              <a:rPr lang="en-US" sz="2398" b="1" spc="-105">
                <a:solidFill>
                  <a:srgbClr val="2B2B2B"/>
                </a:solidFill>
                <a:latin typeface="Montserrat Medium"/>
                <a:ea typeface="Montserrat Medium"/>
                <a:cs typeface="Montserrat Medium"/>
                <a:sym typeface="Montserrat Medium"/>
              </a:rPr>
              <a:t>Asset Price</a:t>
            </a:r>
          </a:p>
        </p:txBody>
      </p:sp>
      <p:sp>
        <p:nvSpPr>
          <p:cNvPr id="35" name="TextBox 35"/>
          <p:cNvSpPr txBox="1"/>
          <p:nvPr/>
        </p:nvSpPr>
        <p:spPr>
          <a:xfrm>
            <a:off x="6881951" y="5626440"/>
            <a:ext cx="1462918" cy="823367"/>
          </a:xfrm>
          <a:prstGeom prst="rect">
            <a:avLst/>
          </a:prstGeom>
        </p:spPr>
        <p:txBody>
          <a:bodyPr lIns="0" tIns="0" rIns="0" bIns="0" rtlCol="0" anchor="t">
            <a:spAutoFit/>
          </a:bodyPr>
          <a:lstStyle/>
          <a:p>
            <a:pPr algn="r">
              <a:lnSpc>
                <a:spcPts val="3358"/>
              </a:lnSpc>
            </a:pPr>
            <a:r>
              <a:rPr lang="en-US" sz="2398" b="1" spc="-105">
                <a:solidFill>
                  <a:srgbClr val="2B2B2B"/>
                </a:solidFill>
                <a:latin typeface="Montserrat Medium"/>
                <a:ea typeface="Montserrat Medium"/>
                <a:cs typeface="Montserrat Medium"/>
                <a:sym typeface="Montserrat Medium"/>
              </a:rPr>
              <a:t>500,000</a:t>
            </a:r>
          </a:p>
          <a:p>
            <a:pPr algn="r">
              <a:lnSpc>
                <a:spcPts val="3358"/>
              </a:lnSpc>
              <a:spcBef>
                <a:spcPct val="0"/>
              </a:spcBef>
            </a:pPr>
            <a:endParaRPr lang="en-US" sz="2398" b="1" spc="-105">
              <a:solidFill>
                <a:srgbClr val="2B2B2B"/>
              </a:solidFill>
              <a:latin typeface="Montserrat Medium"/>
              <a:ea typeface="Montserrat Medium"/>
              <a:cs typeface="Montserrat Medium"/>
              <a:sym typeface="Montserrat Medium"/>
            </a:endParaRPr>
          </a:p>
        </p:txBody>
      </p:sp>
      <p:sp>
        <p:nvSpPr>
          <p:cNvPr id="36" name="TextBox 36"/>
          <p:cNvSpPr txBox="1"/>
          <p:nvPr/>
        </p:nvSpPr>
        <p:spPr>
          <a:xfrm>
            <a:off x="2344786" y="6421070"/>
            <a:ext cx="5336296" cy="400271"/>
          </a:xfrm>
          <a:prstGeom prst="rect">
            <a:avLst/>
          </a:prstGeom>
        </p:spPr>
        <p:txBody>
          <a:bodyPr lIns="0" tIns="0" rIns="0" bIns="0" rtlCol="0" anchor="t">
            <a:spAutoFit/>
          </a:bodyPr>
          <a:lstStyle/>
          <a:p>
            <a:pPr algn="l">
              <a:lnSpc>
                <a:spcPts val="3358"/>
              </a:lnSpc>
              <a:spcBef>
                <a:spcPct val="0"/>
              </a:spcBef>
            </a:pPr>
            <a:r>
              <a:rPr lang="en-US" sz="2398" b="1" spc="-105">
                <a:solidFill>
                  <a:srgbClr val="2B2B2B"/>
                </a:solidFill>
                <a:latin typeface="Montserrat Medium"/>
                <a:ea typeface="Montserrat Medium"/>
                <a:cs typeface="Montserrat Medium"/>
                <a:sym typeface="Montserrat Medium"/>
              </a:rPr>
              <a:t>Scrap Value</a:t>
            </a:r>
          </a:p>
        </p:txBody>
      </p:sp>
      <p:sp>
        <p:nvSpPr>
          <p:cNvPr id="37" name="TextBox 37"/>
          <p:cNvSpPr txBox="1"/>
          <p:nvPr/>
        </p:nvSpPr>
        <p:spPr>
          <a:xfrm>
            <a:off x="7062899" y="6421070"/>
            <a:ext cx="1281970" cy="823367"/>
          </a:xfrm>
          <a:prstGeom prst="rect">
            <a:avLst/>
          </a:prstGeom>
        </p:spPr>
        <p:txBody>
          <a:bodyPr lIns="0" tIns="0" rIns="0" bIns="0" rtlCol="0" anchor="t">
            <a:spAutoFit/>
          </a:bodyPr>
          <a:lstStyle/>
          <a:p>
            <a:pPr algn="r">
              <a:lnSpc>
                <a:spcPts val="3358"/>
              </a:lnSpc>
            </a:pPr>
            <a:r>
              <a:rPr lang="en-US" sz="2398" b="1" spc="-105">
                <a:solidFill>
                  <a:srgbClr val="2B2B2B"/>
                </a:solidFill>
                <a:latin typeface="Montserrat Medium"/>
                <a:ea typeface="Montserrat Medium"/>
                <a:cs typeface="Montserrat Medium"/>
                <a:sym typeface="Montserrat Medium"/>
              </a:rPr>
              <a:t>50,000</a:t>
            </a:r>
          </a:p>
          <a:p>
            <a:pPr algn="r">
              <a:lnSpc>
                <a:spcPts val="3358"/>
              </a:lnSpc>
              <a:spcBef>
                <a:spcPct val="0"/>
              </a:spcBef>
            </a:pPr>
            <a:endParaRPr lang="en-US" sz="2398" b="1" spc="-105">
              <a:solidFill>
                <a:srgbClr val="2B2B2B"/>
              </a:solidFill>
              <a:latin typeface="Montserrat Medium"/>
              <a:ea typeface="Montserrat Medium"/>
              <a:cs typeface="Montserrat Medium"/>
              <a:sym typeface="Montserrat Medium"/>
            </a:endParaRPr>
          </a:p>
        </p:txBody>
      </p:sp>
      <p:sp>
        <p:nvSpPr>
          <p:cNvPr id="38" name="TextBox 38"/>
          <p:cNvSpPr txBox="1"/>
          <p:nvPr/>
        </p:nvSpPr>
        <p:spPr>
          <a:xfrm>
            <a:off x="2344786" y="7186963"/>
            <a:ext cx="5336296" cy="400271"/>
          </a:xfrm>
          <a:prstGeom prst="rect">
            <a:avLst/>
          </a:prstGeom>
        </p:spPr>
        <p:txBody>
          <a:bodyPr lIns="0" tIns="0" rIns="0" bIns="0" rtlCol="0" anchor="t">
            <a:spAutoFit/>
          </a:bodyPr>
          <a:lstStyle/>
          <a:p>
            <a:pPr algn="l">
              <a:lnSpc>
                <a:spcPts val="3358"/>
              </a:lnSpc>
              <a:spcBef>
                <a:spcPct val="0"/>
              </a:spcBef>
            </a:pPr>
            <a:r>
              <a:rPr lang="en-US" sz="2398" b="1" spc="-105">
                <a:solidFill>
                  <a:srgbClr val="2B2B2B"/>
                </a:solidFill>
                <a:latin typeface="Montserrat Medium"/>
                <a:ea typeface="Montserrat Medium"/>
                <a:cs typeface="Montserrat Medium"/>
                <a:sym typeface="Montserrat Medium"/>
              </a:rPr>
              <a:t>Useful Life</a:t>
            </a:r>
          </a:p>
        </p:txBody>
      </p:sp>
      <p:sp>
        <p:nvSpPr>
          <p:cNvPr id="39" name="TextBox 39"/>
          <p:cNvSpPr txBox="1"/>
          <p:nvPr/>
        </p:nvSpPr>
        <p:spPr>
          <a:xfrm>
            <a:off x="7040097" y="7158102"/>
            <a:ext cx="1281970" cy="823367"/>
          </a:xfrm>
          <a:prstGeom prst="rect">
            <a:avLst/>
          </a:prstGeom>
        </p:spPr>
        <p:txBody>
          <a:bodyPr lIns="0" tIns="0" rIns="0" bIns="0" rtlCol="0" anchor="t">
            <a:spAutoFit/>
          </a:bodyPr>
          <a:lstStyle/>
          <a:p>
            <a:pPr algn="r">
              <a:lnSpc>
                <a:spcPts val="3358"/>
              </a:lnSpc>
            </a:pPr>
            <a:r>
              <a:rPr lang="en-US" sz="2398" b="1" spc="-105">
                <a:solidFill>
                  <a:srgbClr val="2B2B2B"/>
                </a:solidFill>
                <a:latin typeface="Montserrat Medium"/>
                <a:ea typeface="Montserrat Medium"/>
                <a:cs typeface="Montserrat Medium"/>
                <a:sym typeface="Montserrat Medium"/>
              </a:rPr>
              <a:t>10 years</a:t>
            </a:r>
          </a:p>
          <a:p>
            <a:pPr algn="r">
              <a:lnSpc>
                <a:spcPts val="3358"/>
              </a:lnSpc>
              <a:spcBef>
                <a:spcPct val="0"/>
              </a:spcBef>
            </a:pPr>
            <a:endParaRPr lang="en-US" sz="2398" b="1" spc="-105">
              <a:solidFill>
                <a:srgbClr val="2B2B2B"/>
              </a:solidFill>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2613" y="1103775"/>
            <a:ext cx="15558978" cy="8081777"/>
            <a:chOff x="0" y="0"/>
            <a:chExt cx="2410493" cy="1252079"/>
          </a:xfrm>
        </p:grpSpPr>
        <p:sp>
          <p:nvSpPr>
            <p:cNvPr id="3" name="Freeform 3"/>
            <p:cNvSpPr/>
            <p:nvPr/>
          </p:nvSpPr>
          <p:spPr>
            <a:xfrm>
              <a:off x="0" y="0"/>
              <a:ext cx="2410493" cy="1252079"/>
            </a:xfrm>
            <a:custGeom>
              <a:avLst/>
              <a:gdLst/>
              <a:ahLst/>
              <a:cxnLst/>
              <a:rect l="l" t="t" r="r" b="b"/>
              <a:pathLst>
                <a:path w="2410493" h="1252079">
                  <a:moveTo>
                    <a:pt x="0" y="0"/>
                  </a:moveTo>
                  <a:lnTo>
                    <a:pt x="2410493" y="0"/>
                  </a:lnTo>
                  <a:lnTo>
                    <a:pt x="2410493" y="1252079"/>
                  </a:lnTo>
                  <a:lnTo>
                    <a:pt x="0" y="1252079"/>
                  </a:lnTo>
                  <a:close/>
                </a:path>
              </a:pathLst>
            </a:custGeom>
            <a:blipFill>
              <a:blip r:embed="rId2"/>
              <a:stretch>
                <a:fillRect t="-14253" b="-14253"/>
              </a:stretch>
            </a:blipFill>
          </p:spPr>
        </p:sp>
      </p:grpSp>
      <p:grpSp>
        <p:nvGrpSpPr>
          <p:cNvPr id="4" name="Group 4"/>
          <p:cNvGrpSpPr/>
          <p:nvPr/>
        </p:nvGrpSpPr>
        <p:grpSpPr>
          <a:xfrm>
            <a:off x="6265811" y="5144664"/>
            <a:ext cx="12022189" cy="3509004"/>
            <a:chOff x="0" y="0"/>
            <a:chExt cx="3166338" cy="924182"/>
          </a:xfrm>
        </p:grpSpPr>
        <p:sp>
          <p:nvSpPr>
            <p:cNvPr id="5" name="Freeform 5"/>
            <p:cNvSpPr/>
            <p:nvPr/>
          </p:nvSpPr>
          <p:spPr>
            <a:xfrm>
              <a:off x="0" y="0"/>
              <a:ext cx="3166338" cy="924182"/>
            </a:xfrm>
            <a:custGeom>
              <a:avLst/>
              <a:gdLst/>
              <a:ahLst/>
              <a:cxnLst/>
              <a:rect l="l" t="t" r="r" b="b"/>
              <a:pathLst>
                <a:path w="3166338" h="924182">
                  <a:moveTo>
                    <a:pt x="0" y="0"/>
                  </a:moveTo>
                  <a:lnTo>
                    <a:pt x="3166338" y="0"/>
                  </a:lnTo>
                  <a:lnTo>
                    <a:pt x="3166338" y="924182"/>
                  </a:lnTo>
                  <a:lnTo>
                    <a:pt x="0" y="924182"/>
                  </a:lnTo>
                  <a:close/>
                </a:path>
              </a:pathLst>
            </a:custGeom>
            <a:solidFill>
              <a:srgbClr val="FFFFFF"/>
            </a:solidFill>
          </p:spPr>
        </p:sp>
        <p:sp>
          <p:nvSpPr>
            <p:cNvPr id="6" name="TextBox 6"/>
            <p:cNvSpPr txBox="1"/>
            <p:nvPr/>
          </p:nvSpPr>
          <p:spPr>
            <a:xfrm>
              <a:off x="0" y="-38100"/>
              <a:ext cx="3166338" cy="962282"/>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0" y="2328"/>
            <a:ext cx="1162613" cy="1101447"/>
            <a:chOff x="0" y="0"/>
            <a:chExt cx="306203" cy="290093"/>
          </a:xfrm>
        </p:grpSpPr>
        <p:sp>
          <p:nvSpPr>
            <p:cNvPr id="8" name="Freeform 8"/>
            <p:cNvSpPr/>
            <p:nvPr/>
          </p:nvSpPr>
          <p:spPr>
            <a:xfrm>
              <a:off x="0" y="0"/>
              <a:ext cx="306203" cy="290093"/>
            </a:xfrm>
            <a:custGeom>
              <a:avLst/>
              <a:gdLst/>
              <a:ahLst/>
              <a:cxnLst/>
              <a:rect l="l" t="t" r="r" b="b"/>
              <a:pathLst>
                <a:path w="306203" h="290093">
                  <a:moveTo>
                    <a:pt x="0" y="0"/>
                  </a:moveTo>
                  <a:lnTo>
                    <a:pt x="306203" y="0"/>
                  </a:lnTo>
                  <a:lnTo>
                    <a:pt x="306203" y="290093"/>
                  </a:lnTo>
                  <a:lnTo>
                    <a:pt x="0" y="290093"/>
                  </a:lnTo>
                  <a:close/>
                </a:path>
              </a:pathLst>
            </a:custGeom>
            <a:solidFill>
              <a:srgbClr val="002269"/>
            </a:solidFill>
          </p:spPr>
        </p:sp>
        <p:sp>
          <p:nvSpPr>
            <p:cNvPr id="9" name="TextBox 9"/>
            <p:cNvSpPr txBox="1"/>
            <p:nvPr/>
          </p:nvSpPr>
          <p:spPr>
            <a:xfrm>
              <a:off x="0" y="-38100"/>
              <a:ext cx="306203" cy="3281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1103775"/>
            <a:ext cx="1162613" cy="9183225"/>
            <a:chOff x="0" y="0"/>
            <a:chExt cx="306203" cy="2418627"/>
          </a:xfrm>
        </p:grpSpPr>
        <p:sp>
          <p:nvSpPr>
            <p:cNvPr id="11" name="Freeform 11"/>
            <p:cNvSpPr/>
            <p:nvPr/>
          </p:nvSpPr>
          <p:spPr>
            <a:xfrm>
              <a:off x="0" y="0"/>
              <a:ext cx="306203" cy="2418627"/>
            </a:xfrm>
            <a:custGeom>
              <a:avLst/>
              <a:gdLst/>
              <a:ahLst/>
              <a:cxnLst/>
              <a:rect l="l" t="t" r="r" b="b"/>
              <a:pathLst>
                <a:path w="306203" h="2418627">
                  <a:moveTo>
                    <a:pt x="0" y="0"/>
                  </a:moveTo>
                  <a:lnTo>
                    <a:pt x="306203" y="0"/>
                  </a:lnTo>
                  <a:lnTo>
                    <a:pt x="306203" y="2418627"/>
                  </a:lnTo>
                  <a:lnTo>
                    <a:pt x="0" y="2418627"/>
                  </a:lnTo>
                  <a:close/>
                </a:path>
              </a:pathLst>
            </a:custGeom>
            <a:solidFill>
              <a:srgbClr val="4C6496"/>
            </a:solidFill>
          </p:spPr>
        </p:sp>
        <p:sp>
          <p:nvSpPr>
            <p:cNvPr id="12" name="TextBox 12"/>
            <p:cNvSpPr txBox="1"/>
            <p:nvPr/>
          </p:nvSpPr>
          <p:spPr>
            <a:xfrm>
              <a:off x="0" y="-38100"/>
              <a:ext cx="306203" cy="2456727"/>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364491" y="408598"/>
            <a:ext cx="433631" cy="288907"/>
          </a:xfrm>
          <a:custGeom>
            <a:avLst/>
            <a:gdLst/>
            <a:ahLst/>
            <a:cxnLst/>
            <a:rect l="l" t="t" r="r" b="b"/>
            <a:pathLst>
              <a:path w="433631" h="288907">
                <a:moveTo>
                  <a:pt x="0" y="0"/>
                </a:moveTo>
                <a:lnTo>
                  <a:pt x="433631" y="0"/>
                </a:lnTo>
                <a:lnTo>
                  <a:pt x="433631" y="288907"/>
                </a:lnTo>
                <a:lnTo>
                  <a:pt x="0" y="2889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6840116" y="9677014"/>
            <a:ext cx="281957" cy="28195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261009" y="9677014"/>
            <a:ext cx="281957" cy="28195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7681902" y="9677014"/>
            <a:ext cx="281957" cy="28195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6664039" y="3672412"/>
            <a:ext cx="10057553" cy="1226820"/>
          </a:xfrm>
          <a:prstGeom prst="rect">
            <a:avLst/>
          </a:prstGeom>
        </p:spPr>
        <p:txBody>
          <a:bodyPr lIns="0" tIns="0" rIns="0" bIns="0" rtlCol="0" anchor="t">
            <a:spAutoFit/>
          </a:bodyPr>
          <a:lstStyle/>
          <a:p>
            <a:pPr algn="l">
              <a:lnSpc>
                <a:spcPts val="10080"/>
              </a:lnSpc>
              <a:spcBef>
                <a:spcPct val="0"/>
              </a:spcBef>
            </a:pPr>
            <a:r>
              <a:rPr lang="en-US" sz="7200" b="1" spc="-172">
                <a:solidFill>
                  <a:srgbClr val="FFFFFF"/>
                </a:solidFill>
                <a:latin typeface="Montserrat Ultra-Bold"/>
                <a:ea typeface="Montserrat Ultra-Bold"/>
                <a:cs typeface="Montserrat Ultra-Bold"/>
                <a:sym typeface="Montserrat Ultra-Bold"/>
              </a:rPr>
              <a:t>Methodology</a:t>
            </a:r>
          </a:p>
        </p:txBody>
      </p:sp>
      <p:sp>
        <p:nvSpPr>
          <p:cNvPr id="24" name="TextBox 24"/>
          <p:cNvSpPr txBox="1"/>
          <p:nvPr/>
        </p:nvSpPr>
        <p:spPr>
          <a:xfrm>
            <a:off x="6664039" y="5306611"/>
            <a:ext cx="10176077" cy="3114446"/>
          </a:xfrm>
          <a:prstGeom prst="rect">
            <a:avLst/>
          </a:prstGeom>
        </p:spPr>
        <p:txBody>
          <a:bodyPr lIns="0" tIns="0" rIns="0" bIns="0" rtlCol="0" anchor="t">
            <a:spAutoFit/>
          </a:bodyPr>
          <a:lstStyle/>
          <a:p>
            <a:pPr algn="just">
              <a:lnSpc>
                <a:spcPts val="3576"/>
              </a:lnSpc>
            </a:pPr>
            <a:r>
              <a:rPr lang="en-US" sz="2180" b="1">
                <a:solidFill>
                  <a:srgbClr val="2B2B2B"/>
                </a:solidFill>
                <a:latin typeface="Montserrat Medium"/>
                <a:ea typeface="Montserrat Medium"/>
                <a:cs typeface="Montserrat Medium"/>
                <a:sym typeface="Montserrat Medium"/>
              </a:rPr>
              <a:t>Straight-Line: Annual Depreciation = (Asset Price − Scrap Value) ÷ </a:t>
            </a:r>
          </a:p>
          <a:p>
            <a:pPr algn="just">
              <a:lnSpc>
                <a:spcPts val="3576"/>
              </a:lnSpc>
            </a:pPr>
            <a:r>
              <a:rPr lang="en-US" sz="2180" b="1">
                <a:solidFill>
                  <a:srgbClr val="2B2B2B"/>
                </a:solidFill>
                <a:latin typeface="Montserrat Medium"/>
                <a:ea typeface="Montserrat Medium"/>
                <a:cs typeface="Montserrat Medium"/>
                <a:sym typeface="Montserrat Medium"/>
              </a:rPr>
              <a:t>Useful Life.</a:t>
            </a:r>
          </a:p>
          <a:p>
            <a:pPr algn="just">
              <a:lnSpc>
                <a:spcPts val="3576"/>
              </a:lnSpc>
            </a:pPr>
            <a:r>
              <a:rPr lang="en-US" sz="2180" b="1">
                <a:solidFill>
                  <a:srgbClr val="2B2B2B"/>
                </a:solidFill>
                <a:latin typeface="Montserrat Medium"/>
                <a:ea typeface="Montserrat Medium"/>
                <a:cs typeface="Montserrat Medium"/>
                <a:sym typeface="Montserrat Medium"/>
              </a:rPr>
              <a:t>Straight-Line result: (500,000 − 50,000) ÷ 10 = 45,000.00 per year.</a:t>
            </a:r>
          </a:p>
          <a:p>
            <a:pPr algn="just">
              <a:lnSpc>
                <a:spcPts val="3576"/>
              </a:lnSpc>
            </a:pPr>
            <a:r>
              <a:rPr lang="en-US" sz="2180" b="1">
                <a:solidFill>
                  <a:srgbClr val="2B2B2B"/>
                </a:solidFill>
                <a:latin typeface="Montserrat Medium"/>
                <a:ea typeface="Montserrat Medium"/>
                <a:cs typeface="Montserrat Medium"/>
                <a:sym typeface="Montserrat Medium"/>
              </a:rPr>
              <a:t>Straight-Line rate = Annual Depreciation ÷ Asset Price = 9.00%.</a:t>
            </a:r>
          </a:p>
          <a:p>
            <a:pPr algn="just">
              <a:lnSpc>
                <a:spcPts val="3576"/>
              </a:lnSpc>
            </a:pPr>
            <a:r>
              <a:rPr lang="en-US" sz="2180" b="1">
                <a:solidFill>
                  <a:srgbClr val="2B2B2B"/>
                </a:solidFill>
                <a:latin typeface="Montserrat Medium"/>
                <a:ea typeface="Montserrat Medium"/>
                <a:cs typeface="Montserrat Medium"/>
                <a:sym typeface="Montserrat Medium"/>
              </a:rPr>
              <a:t>Diminishing Balance: Depreciation = Beginning Book Value × DB Rate.</a:t>
            </a:r>
          </a:p>
          <a:p>
            <a:pPr algn="just">
              <a:lnSpc>
                <a:spcPts val="3576"/>
              </a:lnSpc>
            </a:pPr>
            <a:r>
              <a:rPr lang="en-US" sz="2180" b="1">
                <a:solidFill>
                  <a:srgbClr val="2B2B2B"/>
                </a:solidFill>
                <a:latin typeface="Montserrat Medium"/>
                <a:ea typeface="Montserrat Medium"/>
                <a:cs typeface="Montserrat Medium"/>
                <a:sym typeface="Montserrat Medium"/>
              </a:rPr>
              <a:t>DB Rate = 1 − (Scrap Value ÷ Asset Price)^(1 ÷ Useful Life) = 20.5672%.</a:t>
            </a:r>
          </a:p>
          <a:p>
            <a:pPr algn="just">
              <a:lnSpc>
                <a:spcPts val="3576"/>
              </a:lnSpc>
            </a:pPr>
            <a:endParaRPr lang="en-US" sz="2180" b="1">
              <a:solidFill>
                <a:srgbClr val="2B2B2B"/>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grpSp>
        <p:nvGrpSpPr>
          <p:cNvPr id="3" name="Group 3"/>
          <p:cNvGrpSpPr/>
          <p:nvPr/>
        </p:nvGrpSpPr>
        <p:grpSpPr>
          <a:xfrm>
            <a:off x="0" y="2328"/>
            <a:ext cx="1162613" cy="1101447"/>
            <a:chOff x="0" y="0"/>
            <a:chExt cx="306203" cy="290093"/>
          </a:xfrm>
        </p:grpSpPr>
        <p:sp>
          <p:nvSpPr>
            <p:cNvPr id="4" name="Freeform 4"/>
            <p:cNvSpPr/>
            <p:nvPr/>
          </p:nvSpPr>
          <p:spPr>
            <a:xfrm>
              <a:off x="0" y="0"/>
              <a:ext cx="306203" cy="290093"/>
            </a:xfrm>
            <a:custGeom>
              <a:avLst/>
              <a:gdLst/>
              <a:ahLst/>
              <a:cxnLst/>
              <a:rect l="l" t="t" r="r" b="b"/>
              <a:pathLst>
                <a:path w="306203" h="290093">
                  <a:moveTo>
                    <a:pt x="0" y="0"/>
                  </a:moveTo>
                  <a:lnTo>
                    <a:pt x="306203" y="0"/>
                  </a:lnTo>
                  <a:lnTo>
                    <a:pt x="306203" y="290093"/>
                  </a:lnTo>
                  <a:lnTo>
                    <a:pt x="0" y="290093"/>
                  </a:lnTo>
                  <a:close/>
                </a:path>
              </a:pathLst>
            </a:custGeom>
            <a:solidFill>
              <a:srgbClr val="002269"/>
            </a:solidFill>
          </p:spPr>
        </p:sp>
        <p:sp>
          <p:nvSpPr>
            <p:cNvPr id="5" name="TextBox 5"/>
            <p:cNvSpPr txBox="1"/>
            <p:nvPr/>
          </p:nvSpPr>
          <p:spPr>
            <a:xfrm>
              <a:off x="0" y="-38100"/>
              <a:ext cx="306203" cy="328193"/>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0" y="1103775"/>
            <a:ext cx="1162613" cy="9183225"/>
            <a:chOff x="0" y="0"/>
            <a:chExt cx="306203" cy="2418627"/>
          </a:xfrm>
        </p:grpSpPr>
        <p:sp>
          <p:nvSpPr>
            <p:cNvPr id="7" name="Freeform 7"/>
            <p:cNvSpPr/>
            <p:nvPr/>
          </p:nvSpPr>
          <p:spPr>
            <a:xfrm>
              <a:off x="0" y="0"/>
              <a:ext cx="306203" cy="2418627"/>
            </a:xfrm>
            <a:custGeom>
              <a:avLst/>
              <a:gdLst/>
              <a:ahLst/>
              <a:cxnLst/>
              <a:rect l="l" t="t" r="r" b="b"/>
              <a:pathLst>
                <a:path w="306203" h="2418627">
                  <a:moveTo>
                    <a:pt x="0" y="0"/>
                  </a:moveTo>
                  <a:lnTo>
                    <a:pt x="306203" y="0"/>
                  </a:lnTo>
                  <a:lnTo>
                    <a:pt x="306203" y="2418627"/>
                  </a:lnTo>
                  <a:lnTo>
                    <a:pt x="0" y="2418627"/>
                  </a:lnTo>
                  <a:close/>
                </a:path>
              </a:pathLst>
            </a:custGeom>
            <a:solidFill>
              <a:srgbClr val="4C6496"/>
            </a:solidFill>
          </p:spPr>
        </p:sp>
        <p:sp>
          <p:nvSpPr>
            <p:cNvPr id="8" name="TextBox 8"/>
            <p:cNvSpPr txBox="1"/>
            <p:nvPr/>
          </p:nvSpPr>
          <p:spPr>
            <a:xfrm>
              <a:off x="0" y="-38100"/>
              <a:ext cx="306203" cy="2456727"/>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364491" y="408598"/>
            <a:ext cx="433631" cy="288907"/>
          </a:xfrm>
          <a:custGeom>
            <a:avLst/>
            <a:gdLst/>
            <a:ahLst/>
            <a:cxnLst/>
            <a:rect l="l" t="t" r="r" b="b"/>
            <a:pathLst>
              <a:path w="433631" h="288907">
                <a:moveTo>
                  <a:pt x="0" y="0"/>
                </a:moveTo>
                <a:lnTo>
                  <a:pt x="433631" y="0"/>
                </a:lnTo>
                <a:lnTo>
                  <a:pt x="433631" y="288907"/>
                </a:lnTo>
                <a:lnTo>
                  <a:pt x="0" y="2889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0" name="Group 10"/>
          <p:cNvGrpSpPr/>
          <p:nvPr/>
        </p:nvGrpSpPr>
        <p:grpSpPr>
          <a:xfrm>
            <a:off x="16840116" y="9677014"/>
            <a:ext cx="281957" cy="28195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7261009" y="9677014"/>
            <a:ext cx="281957" cy="28195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7681902" y="9677014"/>
            <a:ext cx="281957" cy="28195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0256132" y="1919911"/>
            <a:ext cx="6038232" cy="1161536"/>
          </a:xfrm>
          <a:prstGeom prst="rect">
            <a:avLst/>
          </a:prstGeom>
        </p:spPr>
        <p:txBody>
          <a:bodyPr lIns="0" tIns="0" rIns="0" bIns="0" rtlCol="0" anchor="t">
            <a:spAutoFit/>
          </a:bodyPr>
          <a:lstStyle/>
          <a:p>
            <a:pPr algn="l">
              <a:lnSpc>
                <a:spcPts val="10080"/>
              </a:lnSpc>
              <a:spcBef>
                <a:spcPct val="0"/>
              </a:spcBef>
            </a:pPr>
            <a:r>
              <a:rPr lang="en-US" sz="6000" b="1" spc="-172" dirty="0">
                <a:solidFill>
                  <a:srgbClr val="FFFFFF"/>
                </a:solidFill>
                <a:latin typeface="Montserrat Ultra-Bold"/>
                <a:ea typeface="Montserrat Ultra-Bold"/>
                <a:cs typeface="Montserrat Ultra-Bold"/>
                <a:sym typeface="Montserrat Ultra-Bold"/>
              </a:rPr>
              <a:t>Key Findings </a:t>
            </a:r>
          </a:p>
        </p:txBody>
      </p:sp>
      <p:sp>
        <p:nvSpPr>
          <p:cNvPr id="20" name="TextBox 20"/>
          <p:cNvSpPr txBox="1"/>
          <p:nvPr/>
        </p:nvSpPr>
        <p:spPr>
          <a:xfrm>
            <a:off x="10256132" y="3384000"/>
            <a:ext cx="7003168" cy="4983089"/>
          </a:xfrm>
          <a:prstGeom prst="rect">
            <a:avLst/>
          </a:prstGeom>
        </p:spPr>
        <p:txBody>
          <a:bodyPr lIns="0" tIns="0" rIns="0" bIns="0" rtlCol="0" anchor="t">
            <a:spAutoFit/>
          </a:bodyPr>
          <a:lstStyle/>
          <a:p>
            <a:pPr algn="just">
              <a:lnSpc>
                <a:spcPts val="3620"/>
              </a:lnSpc>
            </a:pPr>
            <a:r>
              <a:rPr lang="en-US" sz="2207" b="1" dirty="0">
                <a:solidFill>
                  <a:srgbClr val="FFFFFF"/>
                </a:solidFill>
                <a:latin typeface="Montserrat Medium"/>
                <a:ea typeface="Montserrat Medium"/>
                <a:cs typeface="Montserrat Medium"/>
                <a:sym typeface="Montserrat Medium"/>
              </a:rPr>
              <a:t>SL annual depreciation = 45,000.00 </a:t>
            </a:r>
          </a:p>
          <a:p>
            <a:pPr algn="just">
              <a:lnSpc>
                <a:spcPts val="3620"/>
              </a:lnSpc>
            </a:pPr>
            <a:r>
              <a:rPr lang="en-US" sz="2207" b="1" dirty="0">
                <a:solidFill>
                  <a:srgbClr val="FFFFFF"/>
                </a:solidFill>
                <a:latin typeface="Montserrat Medium"/>
                <a:ea typeface="Montserrat Medium"/>
                <a:cs typeface="Montserrat Medium"/>
                <a:sym typeface="Montserrat Medium"/>
              </a:rPr>
              <a:t>DB rate = 20.5672%.</a:t>
            </a:r>
          </a:p>
          <a:p>
            <a:pPr algn="just">
              <a:lnSpc>
                <a:spcPts val="3620"/>
              </a:lnSpc>
            </a:pPr>
            <a:r>
              <a:rPr lang="en-US" sz="2207" b="1" dirty="0">
                <a:solidFill>
                  <a:srgbClr val="FFFFFF"/>
                </a:solidFill>
                <a:latin typeface="Montserrat Medium"/>
                <a:ea typeface="Montserrat Medium"/>
                <a:cs typeface="Montserrat Medium"/>
                <a:sym typeface="Montserrat Medium"/>
              </a:rPr>
              <a:t>DB Year 2 depreciation = 81,685.45.</a:t>
            </a:r>
          </a:p>
          <a:p>
            <a:pPr algn="just">
              <a:lnSpc>
                <a:spcPts val="3620"/>
              </a:lnSpc>
            </a:pPr>
            <a:r>
              <a:rPr lang="en-US" sz="2207" b="1" dirty="0">
                <a:solidFill>
                  <a:srgbClr val="FFFFFF"/>
                </a:solidFill>
                <a:latin typeface="Montserrat Medium"/>
                <a:ea typeface="Montserrat Medium"/>
                <a:cs typeface="Montserrat Medium"/>
                <a:sym typeface="Montserrat Medium"/>
              </a:rPr>
              <a:t>DB ending Year 4 book value = 199,053.59.</a:t>
            </a:r>
          </a:p>
          <a:p>
            <a:pPr algn="just">
              <a:lnSpc>
                <a:spcPts val="3620"/>
              </a:lnSpc>
            </a:pPr>
            <a:r>
              <a:rPr lang="en-US" sz="2207" b="1" dirty="0">
                <a:solidFill>
                  <a:srgbClr val="FFFFFF"/>
                </a:solidFill>
                <a:latin typeface="Montserrat Medium"/>
                <a:ea typeface="Montserrat Medium"/>
                <a:cs typeface="Montserrat Medium"/>
                <a:sym typeface="Montserrat Medium"/>
              </a:rPr>
              <a:t>Total depreciation under both methods = 450,000.00.</a:t>
            </a:r>
          </a:p>
          <a:p>
            <a:pPr algn="just">
              <a:lnSpc>
                <a:spcPts val="3620"/>
              </a:lnSpc>
            </a:pPr>
            <a:r>
              <a:rPr lang="en-US" sz="2207" b="1" dirty="0">
                <a:solidFill>
                  <a:srgbClr val="FFFFFF"/>
                </a:solidFill>
                <a:latin typeface="Montserrat Medium"/>
                <a:ea typeface="Montserrat Medium"/>
                <a:cs typeface="Montserrat Medium"/>
                <a:sym typeface="Montserrat Medium"/>
              </a:rPr>
              <a:t>Therefore, the methods differ primarily in the timing of expense recognition, not the total depreciable amount when the same residual value is achieved.</a:t>
            </a:r>
          </a:p>
          <a:p>
            <a:pPr algn="just">
              <a:lnSpc>
                <a:spcPts val="3620"/>
              </a:lnSpc>
            </a:pPr>
            <a:endParaRPr lang="en-US" sz="2207" b="1" dirty="0">
              <a:solidFill>
                <a:srgbClr val="FFFFFF"/>
              </a:solidFill>
              <a:latin typeface="Montserrat Medium"/>
              <a:ea typeface="Montserrat Medium"/>
              <a:cs typeface="Montserrat Medium"/>
              <a:sym typeface="Montserrat Medium"/>
            </a:endParaRPr>
          </a:p>
        </p:txBody>
      </p:sp>
      <p:grpSp>
        <p:nvGrpSpPr>
          <p:cNvPr id="21" name="Group 21"/>
          <p:cNvGrpSpPr/>
          <p:nvPr/>
        </p:nvGrpSpPr>
        <p:grpSpPr>
          <a:xfrm>
            <a:off x="1897661" y="593624"/>
            <a:ext cx="7246339" cy="9083389"/>
            <a:chOff x="0" y="0"/>
            <a:chExt cx="1100096" cy="1378987"/>
          </a:xfrm>
        </p:grpSpPr>
        <p:sp>
          <p:nvSpPr>
            <p:cNvPr id="22" name="Freeform 22"/>
            <p:cNvSpPr/>
            <p:nvPr/>
          </p:nvSpPr>
          <p:spPr>
            <a:xfrm>
              <a:off x="0" y="0"/>
              <a:ext cx="1100096" cy="1378987"/>
            </a:xfrm>
            <a:custGeom>
              <a:avLst/>
              <a:gdLst/>
              <a:ahLst/>
              <a:cxnLst/>
              <a:rect l="l" t="t" r="r" b="b"/>
              <a:pathLst>
                <a:path w="1100096" h="1378987">
                  <a:moveTo>
                    <a:pt x="0" y="0"/>
                  </a:moveTo>
                  <a:lnTo>
                    <a:pt x="1100096" y="0"/>
                  </a:lnTo>
                  <a:lnTo>
                    <a:pt x="1100096" y="1378987"/>
                  </a:lnTo>
                  <a:lnTo>
                    <a:pt x="0" y="1378987"/>
                  </a:lnTo>
                  <a:close/>
                </a:path>
              </a:pathLst>
            </a:custGeom>
            <a:blipFill>
              <a:blip r:embed="rId4"/>
              <a:stretch>
                <a:fillRect t="-9831" b="-9831"/>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11175" y="2328"/>
            <a:ext cx="5076825" cy="9125216"/>
            <a:chOff x="0" y="0"/>
            <a:chExt cx="1337106" cy="2403349"/>
          </a:xfrm>
        </p:grpSpPr>
        <p:sp>
          <p:nvSpPr>
            <p:cNvPr id="3" name="Freeform 3"/>
            <p:cNvSpPr/>
            <p:nvPr/>
          </p:nvSpPr>
          <p:spPr>
            <a:xfrm>
              <a:off x="0" y="0"/>
              <a:ext cx="1337106" cy="2403349"/>
            </a:xfrm>
            <a:custGeom>
              <a:avLst/>
              <a:gdLst/>
              <a:ahLst/>
              <a:cxnLst/>
              <a:rect l="l" t="t" r="r" b="b"/>
              <a:pathLst>
                <a:path w="1337106" h="2403349">
                  <a:moveTo>
                    <a:pt x="0" y="0"/>
                  </a:moveTo>
                  <a:lnTo>
                    <a:pt x="1337106" y="0"/>
                  </a:lnTo>
                  <a:lnTo>
                    <a:pt x="1337106" y="2403349"/>
                  </a:lnTo>
                  <a:lnTo>
                    <a:pt x="0" y="2403349"/>
                  </a:lnTo>
                  <a:close/>
                </a:path>
              </a:pathLst>
            </a:custGeom>
            <a:solidFill>
              <a:srgbClr val="002269"/>
            </a:solidFill>
          </p:spPr>
        </p:sp>
        <p:sp>
          <p:nvSpPr>
            <p:cNvPr id="4" name="TextBox 4"/>
            <p:cNvSpPr txBox="1"/>
            <p:nvPr/>
          </p:nvSpPr>
          <p:spPr>
            <a:xfrm>
              <a:off x="0" y="-38100"/>
              <a:ext cx="1337106" cy="2441449"/>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2328"/>
            <a:ext cx="1162613" cy="1101447"/>
            <a:chOff x="0" y="0"/>
            <a:chExt cx="306203" cy="290093"/>
          </a:xfrm>
        </p:grpSpPr>
        <p:sp>
          <p:nvSpPr>
            <p:cNvPr id="6" name="Freeform 6"/>
            <p:cNvSpPr/>
            <p:nvPr/>
          </p:nvSpPr>
          <p:spPr>
            <a:xfrm>
              <a:off x="0" y="0"/>
              <a:ext cx="306203" cy="290093"/>
            </a:xfrm>
            <a:custGeom>
              <a:avLst/>
              <a:gdLst/>
              <a:ahLst/>
              <a:cxnLst/>
              <a:rect l="l" t="t" r="r" b="b"/>
              <a:pathLst>
                <a:path w="306203" h="290093">
                  <a:moveTo>
                    <a:pt x="0" y="0"/>
                  </a:moveTo>
                  <a:lnTo>
                    <a:pt x="306203" y="0"/>
                  </a:lnTo>
                  <a:lnTo>
                    <a:pt x="306203" y="290093"/>
                  </a:lnTo>
                  <a:lnTo>
                    <a:pt x="0" y="290093"/>
                  </a:lnTo>
                  <a:close/>
                </a:path>
              </a:pathLst>
            </a:custGeom>
            <a:solidFill>
              <a:srgbClr val="002269"/>
            </a:solidFill>
          </p:spPr>
        </p:sp>
        <p:sp>
          <p:nvSpPr>
            <p:cNvPr id="7" name="TextBox 7"/>
            <p:cNvSpPr txBox="1"/>
            <p:nvPr/>
          </p:nvSpPr>
          <p:spPr>
            <a:xfrm>
              <a:off x="0" y="-38100"/>
              <a:ext cx="306203" cy="32819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0" y="1103775"/>
            <a:ext cx="1162613" cy="9183225"/>
            <a:chOff x="0" y="0"/>
            <a:chExt cx="306203" cy="2418627"/>
          </a:xfrm>
        </p:grpSpPr>
        <p:sp>
          <p:nvSpPr>
            <p:cNvPr id="9" name="Freeform 9"/>
            <p:cNvSpPr/>
            <p:nvPr/>
          </p:nvSpPr>
          <p:spPr>
            <a:xfrm>
              <a:off x="0" y="0"/>
              <a:ext cx="306203" cy="2418627"/>
            </a:xfrm>
            <a:custGeom>
              <a:avLst/>
              <a:gdLst/>
              <a:ahLst/>
              <a:cxnLst/>
              <a:rect l="l" t="t" r="r" b="b"/>
              <a:pathLst>
                <a:path w="306203" h="2418627">
                  <a:moveTo>
                    <a:pt x="0" y="0"/>
                  </a:moveTo>
                  <a:lnTo>
                    <a:pt x="306203" y="0"/>
                  </a:lnTo>
                  <a:lnTo>
                    <a:pt x="306203" y="2418627"/>
                  </a:lnTo>
                  <a:lnTo>
                    <a:pt x="0" y="2418627"/>
                  </a:lnTo>
                  <a:close/>
                </a:path>
              </a:pathLst>
            </a:custGeom>
            <a:solidFill>
              <a:srgbClr val="4C6496"/>
            </a:solidFill>
          </p:spPr>
        </p:sp>
        <p:sp>
          <p:nvSpPr>
            <p:cNvPr id="10" name="TextBox 10"/>
            <p:cNvSpPr txBox="1"/>
            <p:nvPr/>
          </p:nvSpPr>
          <p:spPr>
            <a:xfrm>
              <a:off x="0" y="-38100"/>
              <a:ext cx="306203" cy="2456727"/>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64491" y="408598"/>
            <a:ext cx="433631" cy="288907"/>
          </a:xfrm>
          <a:custGeom>
            <a:avLst/>
            <a:gdLst/>
            <a:ahLst/>
            <a:cxnLst/>
            <a:rect l="l" t="t" r="r" b="b"/>
            <a:pathLst>
              <a:path w="433631" h="288907">
                <a:moveTo>
                  <a:pt x="0" y="0"/>
                </a:moveTo>
                <a:lnTo>
                  <a:pt x="433631" y="0"/>
                </a:lnTo>
                <a:lnTo>
                  <a:pt x="433631" y="288907"/>
                </a:lnTo>
                <a:lnTo>
                  <a:pt x="0" y="28890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2" name="Group 12"/>
          <p:cNvGrpSpPr/>
          <p:nvPr/>
        </p:nvGrpSpPr>
        <p:grpSpPr>
          <a:xfrm>
            <a:off x="17261009" y="9677014"/>
            <a:ext cx="281957" cy="28195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a:off x="17681902" y="9677014"/>
            <a:ext cx="281957" cy="28195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7" name="TextBox 1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8" name="Freeform 18"/>
          <p:cNvSpPr/>
          <p:nvPr/>
        </p:nvSpPr>
        <p:spPr>
          <a:xfrm>
            <a:off x="4266915" y="8701685"/>
            <a:ext cx="2155826" cy="2042155"/>
          </a:xfrm>
          <a:custGeom>
            <a:avLst/>
            <a:gdLst/>
            <a:ahLst/>
            <a:cxnLst/>
            <a:rect l="l" t="t" r="r" b="b"/>
            <a:pathLst>
              <a:path w="2155826" h="2042155">
                <a:moveTo>
                  <a:pt x="0" y="0"/>
                </a:moveTo>
                <a:lnTo>
                  <a:pt x="2155826" y="0"/>
                </a:lnTo>
                <a:lnTo>
                  <a:pt x="2155826" y="2042156"/>
                </a:lnTo>
                <a:lnTo>
                  <a:pt x="0" y="2042156"/>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19" name="Object 19"/>
          <p:cNvGraphicFramePr/>
          <p:nvPr/>
        </p:nvGraphicFramePr>
        <p:xfrm>
          <a:off x="1421394" y="3391526"/>
          <a:ext cx="9886950" cy="6915150"/>
        </p:xfrm>
        <a:graphic>
          <a:graphicData uri="http://schemas.openxmlformats.org/presentationml/2006/ole">
            <mc:AlternateContent xmlns:mc="http://schemas.openxmlformats.org/markup-compatibility/2006">
              <mc:Choice xmlns:v="urn:schemas-microsoft-com:vml" Requires="v">
                <p:oleObj name="Worksheet" r:id="rId4" imgW="11861800" imgH="8890000" progId="Excel.Sheet.12">
                  <p:embed/>
                </p:oleObj>
              </mc:Choice>
              <mc:Fallback>
                <p:oleObj name="Worksheet" r:id="rId4" imgW="11861800" imgH="8890000" progId="Excel.Sheet.12">
                  <p:embed/>
                  <p:pic>
                    <p:nvPicPr>
                      <p:cNvPr id="0" name=""/>
                      <p:cNvPicPr/>
                      <p:nvPr/>
                    </p:nvPicPr>
                    <p:blipFill>
                      <a:blip r:embed="rId5"/>
                      <a:stretch>
                        <a:fillRect/>
                      </a:stretch>
                    </p:blipFill>
                    <p:spPr>
                      <a:xfrm>
                        <a:off x="1421394" y="3391526"/>
                        <a:ext cx="9886950" cy="6915150"/>
                      </a:xfrm>
                      <a:prstGeom prst="rect">
                        <a:avLst/>
                      </a:prstGeom>
                    </p:spPr>
                  </p:pic>
                </p:oleObj>
              </mc:Fallback>
            </mc:AlternateContent>
          </a:graphicData>
        </a:graphic>
      </p:graphicFrame>
      <p:sp>
        <p:nvSpPr>
          <p:cNvPr id="20" name="Freeform 20"/>
          <p:cNvSpPr/>
          <p:nvPr/>
        </p:nvSpPr>
        <p:spPr>
          <a:xfrm>
            <a:off x="9852541" y="3839588"/>
            <a:ext cx="7829361" cy="4367019"/>
          </a:xfrm>
          <a:custGeom>
            <a:avLst/>
            <a:gdLst/>
            <a:ahLst/>
            <a:cxnLst/>
            <a:rect l="l" t="t" r="r" b="b"/>
            <a:pathLst>
              <a:path w="7829361" h="4367019">
                <a:moveTo>
                  <a:pt x="0" y="0"/>
                </a:moveTo>
                <a:lnTo>
                  <a:pt x="7829361" y="0"/>
                </a:lnTo>
                <a:lnTo>
                  <a:pt x="7829361" y="4367018"/>
                </a:lnTo>
                <a:lnTo>
                  <a:pt x="0" y="4367018"/>
                </a:lnTo>
                <a:lnTo>
                  <a:pt x="0" y="0"/>
                </a:lnTo>
                <a:close/>
              </a:path>
            </a:pathLst>
          </a:custGeom>
          <a:blipFill>
            <a:blip r:embed="rId6"/>
            <a:stretch>
              <a:fillRect/>
            </a:stretch>
          </a:blipFill>
        </p:spPr>
      </p:sp>
      <p:sp>
        <p:nvSpPr>
          <p:cNvPr id="21" name="TextBox 21"/>
          <p:cNvSpPr txBox="1"/>
          <p:nvPr/>
        </p:nvSpPr>
        <p:spPr>
          <a:xfrm>
            <a:off x="1874497" y="564155"/>
            <a:ext cx="10260304" cy="2503170"/>
          </a:xfrm>
          <a:prstGeom prst="rect">
            <a:avLst/>
          </a:prstGeom>
        </p:spPr>
        <p:txBody>
          <a:bodyPr lIns="0" tIns="0" rIns="0" bIns="0" rtlCol="0" anchor="t">
            <a:spAutoFit/>
          </a:bodyPr>
          <a:lstStyle/>
          <a:p>
            <a:pPr algn="l">
              <a:lnSpc>
                <a:spcPts val="10080"/>
              </a:lnSpc>
              <a:spcBef>
                <a:spcPct val="0"/>
              </a:spcBef>
            </a:pPr>
            <a:r>
              <a:rPr lang="en-US" sz="7200" b="1" spc="-172">
                <a:solidFill>
                  <a:srgbClr val="2B2B2B"/>
                </a:solidFill>
                <a:latin typeface="Montserrat Ultra-Bold"/>
                <a:ea typeface="Montserrat Ultra-Bold"/>
                <a:cs typeface="Montserrat Ultra-Bold"/>
                <a:sym typeface="Montserrat Ultra-Bold"/>
              </a:rPr>
              <a:t>10-Year Depreciation Schedule</a:t>
            </a:r>
          </a:p>
        </p:txBody>
      </p:sp>
      <p:grpSp>
        <p:nvGrpSpPr>
          <p:cNvPr id="22" name="Group 12">
            <a:extLst>
              <a:ext uri="{FF2B5EF4-FFF2-40B4-BE49-F238E27FC236}">
                <a16:creationId xmlns:a16="http://schemas.microsoft.com/office/drawing/2014/main" id="{E02D8EAB-9E40-D23B-D286-49E9FC2CE2A7}"/>
              </a:ext>
            </a:extLst>
          </p:cNvPr>
          <p:cNvGrpSpPr/>
          <p:nvPr/>
        </p:nvGrpSpPr>
        <p:grpSpPr>
          <a:xfrm>
            <a:off x="16840116" y="9667578"/>
            <a:ext cx="281957" cy="281957"/>
            <a:chOff x="0" y="0"/>
            <a:chExt cx="812800" cy="812800"/>
          </a:xfrm>
        </p:grpSpPr>
        <p:sp>
          <p:nvSpPr>
            <p:cNvPr id="23" name="Freeform 13">
              <a:extLst>
                <a:ext uri="{FF2B5EF4-FFF2-40B4-BE49-F238E27FC236}">
                  <a16:creationId xmlns:a16="http://schemas.microsoft.com/office/drawing/2014/main" id="{7A99917D-10CF-CA37-4826-174940A2F79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4" name="TextBox 14">
              <a:extLst>
                <a:ext uri="{FF2B5EF4-FFF2-40B4-BE49-F238E27FC236}">
                  <a16:creationId xmlns:a16="http://schemas.microsoft.com/office/drawing/2014/main" id="{FC4A38CF-1FD3-3C75-05C2-A0D3CB42A12A}"/>
                </a:ext>
              </a:extLst>
            </p:cNvPr>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dirty="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469312" y="2619901"/>
            <a:ext cx="8370246" cy="4992448"/>
            <a:chOff x="0" y="0"/>
            <a:chExt cx="2099212" cy="1252079"/>
          </a:xfrm>
        </p:grpSpPr>
        <p:sp>
          <p:nvSpPr>
            <p:cNvPr id="4" name="Freeform 4"/>
            <p:cNvSpPr/>
            <p:nvPr/>
          </p:nvSpPr>
          <p:spPr>
            <a:xfrm>
              <a:off x="0" y="0"/>
              <a:ext cx="2099212" cy="1252079"/>
            </a:xfrm>
            <a:custGeom>
              <a:avLst/>
              <a:gdLst/>
              <a:ahLst/>
              <a:cxnLst/>
              <a:rect l="l" t="t" r="r" b="b"/>
              <a:pathLst>
                <a:path w="2099212" h="1252079">
                  <a:moveTo>
                    <a:pt x="0" y="0"/>
                  </a:moveTo>
                  <a:lnTo>
                    <a:pt x="2099212" y="0"/>
                  </a:lnTo>
                  <a:lnTo>
                    <a:pt x="2099212" y="1252079"/>
                  </a:lnTo>
                  <a:lnTo>
                    <a:pt x="0" y="1252079"/>
                  </a:lnTo>
                  <a:close/>
                </a:path>
              </a:pathLst>
            </a:custGeom>
            <a:blipFill>
              <a:blip r:embed="rId3"/>
              <a:stretch>
                <a:fillRect l="-204" r="-204"/>
              </a:stretch>
            </a:blipFill>
          </p:spPr>
        </p:sp>
      </p:grpSp>
      <p:grpSp>
        <p:nvGrpSpPr>
          <p:cNvPr id="5" name="Group 5"/>
          <p:cNvGrpSpPr/>
          <p:nvPr/>
        </p:nvGrpSpPr>
        <p:grpSpPr>
          <a:xfrm>
            <a:off x="0" y="2328"/>
            <a:ext cx="1162613" cy="1101447"/>
            <a:chOff x="0" y="0"/>
            <a:chExt cx="306203" cy="290093"/>
          </a:xfrm>
        </p:grpSpPr>
        <p:sp>
          <p:nvSpPr>
            <p:cNvPr id="6" name="Freeform 6"/>
            <p:cNvSpPr/>
            <p:nvPr/>
          </p:nvSpPr>
          <p:spPr>
            <a:xfrm>
              <a:off x="0" y="0"/>
              <a:ext cx="306203" cy="290093"/>
            </a:xfrm>
            <a:custGeom>
              <a:avLst/>
              <a:gdLst/>
              <a:ahLst/>
              <a:cxnLst/>
              <a:rect l="l" t="t" r="r" b="b"/>
              <a:pathLst>
                <a:path w="306203" h="290093">
                  <a:moveTo>
                    <a:pt x="0" y="0"/>
                  </a:moveTo>
                  <a:lnTo>
                    <a:pt x="306203" y="0"/>
                  </a:lnTo>
                  <a:lnTo>
                    <a:pt x="306203" y="290093"/>
                  </a:lnTo>
                  <a:lnTo>
                    <a:pt x="0" y="290093"/>
                  </a:lnTo>
                  <a:close/>
                </a:path>
              </a:pathLst>
            </a:custGeom>
            <a:solidFill>
              <a:srgbClr val="002269"/>
            </a:solidFill>
          </p:spPr>
        </p:sp>
        <p:sp>
          <p:nvSpPr>
            <p:cNvPr id="7" name="TextBox 7"/>
            <p:cNvSpPr txBox="1"/>
            <p:nvPr/>
          </p:nvSpPr>
          <p:spPr>
            <a:xfrm>
              <a:off x="0" y="-38100"/>
              <a:ext cx="306203" cy="328193"/>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0" y="1103775"/>
            <a:ext cx="1162613" cy="9183225"/>
            <a:chOff x="0" y="0"/>
            <a:chExt cx="306203" cy="2418627"/>
          </a:xfrm>
        </p:grpSpPr>
        <p:sp>
          <p:nvSpPr>
            <p:cNvPr id="9" name="Freeform 9"/>
            <p:cNvSpPr/>
            <p:nvPr/>
          </p:nvSpPr>
          <p:spPr>
            <a:xfrm>
              <a:off x="0" y="0"/>
              <a:ext cx="306203" cy="2418627"/>
            </a:xfrm>
            <a:custGeom>
              <a:avLst/>
              <a:gdLst/>
              <a:ahLst/>
              <a:cxnLst/>
              <a:rect l="l" t="t" r="r" b="b"/>
              <a:pathLst>
                <a:path w="306203" h="2418627">
                  <a:moveTo>
                    <a:pt x="0" y="0"/>
                  </a:moveTo>
                  <a:lnTo>
                    <a:pt x="306203" y="0"/>
                  </a:lnTo>
                  <a:lnTo>
                    <a:pt x="306203" y="2418627"/>
                  </a:lnTo>
                  <a:lnTo>
                    <a:pt x="0" y="2418627"/>
                  </a:lnTo>
                  <a:close/>
                </a:path>
              </a:pathLst>
            </a:custGeom>
            <a:solidFill>
              <a:srgbClr val="4C6496"/>
            </a:solidFill>
          </p:spPr>
        </p:sp>
        <p:sp>
          <p:nvSpPr>
            <p:cNvPr id="10" name="TextBox 10"/>
            <p:cNvSpPr txBox="1"/>
            <p:nvPr/>
          </p:nvSpPr>
          <p:spPr>
            <a:xfrm>
              <a:off x="0" y="-38100"/>
              <a:ext cx="306203" cy="2456727"/>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a:off x="364491" y="408598"/>
            <a:ext cx="433631" cy="288907"/>
          </a:xfrm>
          <a:custGeom>
            <a:avLst/>
            <a:gdLst/>
            <a:ahLst/>
            <a:cxnLst/>
            <a:rect l="l" t="t" r="r" b="b"/>
            <a:pathLst>
              <a:path w="433631" h="288907">
                <a:moveTo>
                  <a:pt x="0" y="0"/>
                </a:moveTo>
                <a:lnTo>
                  <a:pt x="433631" y="0"/>
                </a:lnTo>
                <a:lnTo>
                  <a:pt x="433631" y="288907"/>
                </a:lnTo>
                <a:lnTo>
                  <a:pt x="0" y="28890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TextBox 12"/>
          <p:cNvSpPr txBox="1"/>
          <p:nvPr/>
        </p:nvSpPr>
        <p:spPr>
          <a:xfrm rot="-5400000">
            <a:off x="-23442" y="1562126"/>
            <a:ext cx="1180920" cy="264218"/>
          </a:xfrm>
          <a:prstGeom prst="rect">
            <a:avLst/>
          </a:prstGeom>
        </p:spPr>
        <p:txBody>
          <a:bodyPr lIns="0" tIns="0" rIns="0" bIns="0" rtlCol="0" anchor="t">
            <a:spAutoFit/>
          </a:bodyPr>
          <a:lstStyle/>
          <a:p>
            <a:pPr algn="l">
              <a:lnSpc>
                <a:spcPts val="2235"/>
              </a:lnSpc>
              <a:spcBef>
                <a:spcPct val="0"/>
              </a:spcBef>
            </a:pPr>
            <a:r>
              <a:rPr lang="en-US" sz="1596" b="1" spc="-63">
                <a:solidFill>
                  <a:srgbClr val="FFFFFF"/>
                </a:solidFill>
                <a:latin typeface="Montserrat Medium"/>
                <a:ea typeface="Montserrat Medium"/>
                <a:cs typeface="Montserrat Medium"/>
                <a:sym typeface="Montserrat Medium"/>
              </a:rPr>
              <a:t>Borcelle</a:t>
            </a:r>
          </a:p>
        </p:txBody>
      </p:sp>
      <p:grpSp>
        <p:nvGrpSpPr>
          <p:cNvPr id="13" name="Group 13"/>
          <p:cNvGrpSpPr/>
          <p:nvPr/>
        </p:nvGrpSpPr>
        <p:grpSpPr>
          <a:xfrm rot="-5400000">
            <a:off x="613083" y="1455386"/>
            <a:ext cx="40903" cy="4090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5" name="TextBox 15"/>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grpSp>
        <p:nvGrpSpPr>
          <p:cNvPr id="16" name="Group 16"/>
          <p:cNvGrpSpPr/>
          <p:nvPr/>
        </p:nvGrpSpPr>
        <p:grpSpPr>
          <a:xfrm>
            <a:off x="16840116" y="9677014"/>
            <a:ext cx="281957" cy="281957"/>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8" name="TextBox 1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7261009" y="9677014"/>
            <a:ext cx="281957" cy="281957"/>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1" name="TextBox 21"/>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2" name="Group 22"/>
          <p:cNvGrpSpPr/>
          <p:nvPr/>
        </p:nvGrpSpPr>
        <p:grpSpPr>
          <a:xfrm>
            <a:off x="17681902" y="9677014"/>
            <a:ext cx="281957" cy="28195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4" name="TextBox 2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5" name="TextBox 25"/>
          <p:cNvSpPr txBox="1"/>
          <p:nvPr/>
        </p:nvSpPr>
        <p:spPr>
          <a:xfrm rot="-5400000">
            <a:off x="-592952" y="8640212"/>
            <a:ext cx="2319944" cy="264218"/>
          </a:xfrm>
          <a:prstGeom prst="rect">
            <a:avLst/>
          </a:prstGeom>
        </p:spPr>
        <p:txBody>
          <a:bodyPr lIns="0" tIns="0" rIns="0" bIns="0" rtlCol="0" anchor="t">
            <a:spAutoFit/>
          </a:bodyPr>
          <a:lstStyle/>
          <a:p>
            <a:pPr algn="l">
              <a:lnSpc>
                <a:spcPts val="2235"/>
              </a:lnSpc>
              <a:spcBef>
                <a:spcPct val="0"/>
              </a:spcBef>
            </a:pPr>
            <a:r>
              <a:rPr lang="en-US" sz="1596" b="1" spc="-63">
                <a:solidFill>
                  <a:srgbClr val="FFFFFF"/>
                </a:solidFill>
                <a:latin typeface="Montserrat Medium"/>
                <a:ea typeface="Montserrat Medium"/>
                <a:cs typeface="Montserrat Medium"/>
                <a:sym typeface="Montserrat Medium"/>
              </a:rPr>
              <a:t>Finance Presentation</a:t>
            </a:r>
          </a:p>
        </p:txBody>
      </p:sp>
      <p:sp>
        <p:nvSpPr>
          <p:cNvPr id="26" name="TextBox 26"/>
          <p:cNvSpPr txBox="1"/>
          <p:nvPr/>
        </p:nvSpPr>
        <p:spPr>
          <a:xfrm>
            <a:off x="10151857" y="970425"/>
            <a:ext cx="7391110" cy="3425825"/>
          </a:xfrm>
          <a:prstGeom prst="rect">
            <a:avLst/>
          </a:prstGeom>
        </p:spPr>
        <p:txBody>
          <a:bodyPr lIns="0" tIns="0" rIns="0" bIns="0" rtlCol="0" anchor="t">
            <a:spAutoFit/>
          </a:bodyPr>
          <a:lstStyle/>
          <a:p>
            <a:pPr algn="l">
              <a:lnSpc>
                <a:spcPts val="9100"/>
              </a:lnSpc>
              <a:spcBef>
                <a:spcPct val="0"/>
              </a:spcBef>
            </a:pPr>
            <a:r>
              <a:rPr lang="en-US" sz="6500" b="1" spc="-156">
                <a:solidFill>
                  <a:srgbClr val="FFFFFF"/>
                </a:solidFill>
                <a:latin typeface="Montserrat Ultra-Bold"/>
                <a:ea typeface="Montserrat Ultra-Bold"/>
                <a:cs typeface="Montserrat Ultra-Bold"/>
                <a:sym typeface="Montserrat Ultra-Bold"/>
              </a:rPr>
              <a:t>Comparative Analysis of Both Methods</a:t>
            </a:r>
          </a:p>
        </p:txBody>
      </p:sp>
      <p:sp>
        <p:nvSpPr>
          <p:cNvPr id="27" name="TextBox 27"/>
          <p:cNvSpPr txBox="1"/>
          <p:nvPr/>
        </p:nvSpPr>
        <p:spPr>
          <a:xfrm>
            <a:off x="10287235" y="4756405"/>
            <a:ext cx="6834839" cy="3779552"/>
          </a:xfrm>
          <a:prstGeom prst="rect">
            <a:avLst/>
          </a:prstGeom>
        </p:spPr>
        <p:txBody>
          <a:bodyPr lIns="0" tIns="0" rIns="0" bIns="0" rtlCol="0" anchor="t">
            <a:spAutoFit/>
          </a:bodyPr>
          <a:lstStyle/>
          <a:p>
            <a:pPr algn="just">
              <a:lnSpc>
                <a:spcPts val="3362"/>
              </a:lnSpc>
            </a:pPr>
            <a:r>
              <a:rPr lang="en-US" sz="2050" b="1">
                <a:solidFill>
                  <a:srgbClr val="FFFFFF"/>
                </a:solidFill>
                <a:latin typeface="Montserrat Medium"/>
                <a:ea typeface="Montserrat Medium"/>
                <a:cs typeface="Montserrat Medium"/>
                <a:sym typeface="Montserrat Medium"/>
              </a:rPr>
              <a:t>The Straight-Line method provides a consistent annual depreciation expense, which is simple to calculate and understand. It is suitable for assets that provide consistent utility over time. </a:t>
            </a:r>
          </a:p>
          <a:p>
            <a:pPr algn="just">
              <a:lnSpc>
                <a:spcPts val="3362"/>
              </a:lnSpc>
            </a:pPr>
            <a:endParaRPr lang="en-US" sz="2050" b="1">
              <a:solidFill>
                <a:srgbClr val="FFFFFF"/>
              </a:solidFill>
              <a:latin typeface="Montserrat Medium"/>
              <a:ea typeface="Montserrat Medium"/>
              <a:cs typeface="Montserrat Medium"/>
              <a:sym typeface="Montserrat Medium"/>
            </a:endParaRPr>
          </a:p>
          <a:p>
            <a:pPr algn="just">
              <a:lnSpc>
                <a:spcPts val="3362"/>
              </a:lnSpc>
            </a:pPr>
            <a:r>
              <a:rPr lang="en-US" sz="2050" b="1">
                <a:solidFill>
                  <a:srgbClr val="FFFFFF"/>
                </a:solidFill>
                <a:latin typeface="Montserrat Medium"/>
                <a:ea typeface="Montserrat Medium"/>
                <a:cs typeface="Montserrat Medium"/>
                <a:sym typeface="Montserrat Medium"/>
              </a:rPr>
              <a:t>The Diminishing Balance method provides higher depreciation expense in the earlier years and lower expense in the later years. It is suitable for assets that lose value quickly or become obsolete faster.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211175" y="2328"/>
            <a:ext cx="5076825" cy="10284672"/>
            <a:chOff x="0" y="0"/>
            <a:chExt cx="1337106" cy="2708720"/>
          </a:xfrm>
        </p:grpSpPr>
        <p:sp>
          <p:nvSpPr>
            <p:cNvPr id="3" name="Freeform 3"/>
            <p:cNvSpPr/>
            <p:nvPr/>
          </p:nvSpPr>
          <p:spPr>
            <a:xfrm>
              <a:off x="0" y="0"/>
              <a:ext cx="1337106" cy="2708720"/>
            </a:xfrm>
            <a:custGeom>
              <a:avLst/>
              <a:gdLst/>
              <a:ahLst/>
              <a:cxnLst/>
              <a:rect l="l" t="t" r="r" b="b"/>
              <a:pathLst>
                <a:path w="1337106" h="2708720">
                  <a:moveTo>
                    <a:pt x="0" y="0"/>
                  </a:moveTo>
                  <a:lnTo>
                    <a:pt x="1337106" y="0"/>
                  </a:lnTo>
                  <a:lnTo>
                    <a:pt x="1337106" y="2708720"/>
                  </a:lnTo>
                  <a:lnTo>
                    <a:pt x="0" y="2708720"/>
                  </a:lnTo>
                  <a:close/>
                </a:path>
              </a:pathLst>
            </a:custGeom>
            <a:solidFill>
              <a:srgbClr val="002269"/>
            </a:solidFill>
          </p:spPr>
        </p:sp>
        <p:sp>
          <p:nvSpPr>
            <p:cNvPr id="4" name="TextBox 4"/>
            <p:cNvSpPr txBox="1"/>
            <p:nvPr/>
          </p:nvSpPr>
          <p:spPr>
            <a:xfrm>
              <a:off x="0" y="-38100"/>
              <a:ext cx="1337106" cy="274682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660786" y="1386073"/>
            <a:ext cx="7481778" cy="7514854"/>
            <a:chOff x="0" y="0"/>
            <a:chExt cx="1159123" cy="1164248"/>
          </a:xfrm>
        </p:grpSpPr>
        <p:sp>
          <p:nvSpPr>
            <p:cNvPr id="6" name="Freeform 6"/>
            <p:cNvSpPr/>
            <p:nvPr/>
          </p:nvSpPr>
          <p:spPr>
            <a:xfrm>
              <a:off x="0" y="0"/>
              <a:ext cx="1159123" cy="1164248"/>
            </a:xfrm>
            <a:custGeom>
              <a:avLst/>
              <a:gdLst/>
              <a:ahLst/>
              <a:cxnLst/>
              <a:rect l="l" t="t" r="r" b="b"/>
              <a:pathLst>
                <a:path w="1159123" h="1164248">
                  <a:moveTo>
                    <a:pt x="0" y="0"/>
                  </a:moveTo>
                  <a:lnTo>
                    <a:pt x="1159123" y="0"/>
                  </a:lnTo>
                  <a:lnTo>
                    <a:pt x="1159123" y="1164248"/>
                  </a:lnTo>
                  <a:lnTo>
                    <a:pt x="0" y="1164248"/>
                  </a:lnTo>
                  <a:close/>
                </a:path>
              </a:pathLst>
            </a:custGeom>
            <a:blipFill>
              <a:blip r:embed="rId2"/>
              <a:stretch>
                <a:fillRect t="-24716" b="-24716"/>
              </a:stretch>
            </a:blipFill>
          </p:spPr>
        </p:sp>
      </p:grpSp>
      <p:grpSp>
        <p:nvGrpSpPr>
          <p:cNvPr id="7" name="Group 7"/>
          <p:cNvGrpSpPr/>
          <p:nvPr/>
        </p:nvGrpSpPr>
        <p:grpSpPr>
          <a:xfrm>
            <a:off x="0" y="2328"/>
            <a:ext cx="1162613" cy="1101447"/>
            <a:chOff x="0" y="0"/>
            <a:chExt cx="306203" cy="290093"/>
          </a:xfrm>
        </p:grpSpPr>
        <p:sp>
          <p:nvSpPr>
            <p:cNvPr id="8" name="Freeform 8"/>
            <p:cNvSpPr/>
            <p:nvPr/>
          </p:nvSpPr>
          <p:spPr>
            <a:xfrm>
              <a:off x="0" y="0"/>
              <a:ext cx="306203" cy="290093"/>
            </a:xfrm>
            <a:custGeom>
              <a:avLst/>
              <a:gdLst/>
              <a:ahLst/>
              <a:cxnLst/>
              <a:rect l="l" t="t" r="r" b="b"/>
              <a:pathLst>
                <a:path w="306203" h="290093">
                  <a:moveTo>
                    <a:pt x="0" y="0"/>
                  </a:moveTo>
                  <a:lnTo>
                    <a:pt x="306203" y="0"/>
                  </a:lnTo>
                  <a:lnTo>
                    <a:pt x="306203" y="290093"/>
                  </a:lnTo>
                  <a:lnTo>
                    <a:pt x="0" y="290093"/>
                  </a:lnTo>
                  <a:close/>
                </a:path>
              </a:pathLst>
            </a:custGeom>
            <a:solidFill>
              <a:srgbClr val="002269"/>
            </a:solidFill>
          </p:spPr>
        </p:sp>
        <p:sp>
          <p:nvSpPr>
            <p:cNvPr id="9" name="TextBox 9"/>
            <p:cNvSpPr txBox="1"/>
            <p:nvPr/>
          </p:nvSpPr>
          <p:spPr>
            <a:xfrm>
              <a:off x="0" y="-38100"/>
              <a:ext cx="306203" cy="328193"/>
            </a:xfrm>
            <a:prstGeom prst="rect">
              <a:avLst/>
            </a:prstGeom>
          </p:spPr>
          <p:txBody>
            <a:bodyPr lIns="50800" tIns="50800" rIns="50800" bIns="50800" rtlCol="0" anchor="ctr"/>
            <a:lstStyle/>
            <a:p>
              <a:pPr algn="ctr">
                <a:lnSpc>
                  <a:spcPts val="2659"/>
                </a:lnSpc>
              </a:pPr>
              <a:endParaRPr/>
            </a:p>
          </p:txBody>
        </p:sp>
      </p:grpSp>
      <p:grpSp>
        <p:nvGrpSpPr>
          <p:cNvPr id="10" name="Group 10"/>
          <p:cNvGrpSpPr/>
          <p:nvPr/>
        </p:nvGrpSpPr>
        <p:grpSpPr>
          <a:xfrm>
            <a:off x="0" y="1103775"/>
            <a:ext cx="1162613" cy="9183225"/>
            <a:chOff x="0" y="0"/>
            <a:chExt cx="306203" cy="2418627"/>
          </a:xfrm>
        </p:grpSpPr>
        <p:sp>
          <p:nvSpPr>
            <p:cNvPr id="11" name="Freeform 11"/>
            <p:cNvSpPr/>
            <p:nvPr/>
          </p:nvSpPr>
          <p:spPr>
            <a:xfrm>
              <a:off x="0" y="0"/>
              <a:ext cx="306203" cy="2418627"/>
            </a:xfrm>
            <a:custGeom>
              <a:avLst/>
              <a:gdLst/>
              <a:ahLst/>
              <a:cxnLst/>
              <a:rect l="l" t="t" r="r" b="b"/>
              <a:pathLst>
                <a:path w="306203" h="2418627">
                  <a:moveTo>
                    <a:pt x="0" y="0"/>
                  </a:moveTo>
                  <a:lnTo>
                    <a:pt x="306203" y="0"/>
                  </a:lnTo>
                  <a:lnTo>
                    <a:pt x="306203" y="2418627"/>
                  </a:lnTo>
                  <a:lnTo>
                    <a:pt x="0" y="2418627"/>
                  </a:lnTo>
                  <a:close/>
                </a:path>
              </a:pathLst>
            </a:custGeom>
            <a:solidFill>
              <a:srgbClr val="4C6496"/>
            </a:solidFill>
          </p:spPr>
        </p:sp>
        <p:sp>
          <p:nvSpPr>
            <p:cNvPr id="12" name="TextBox 12"/>
            <p:cNvSpPr txBox="1"/>
            <p:nvPr/>
          </p:nvSpPr>
          <p:spPr>
            <a:xfrm>
              <a:off x="0" y="-38100"/>
              <a:ext cx="306203" cy="2456727"/>
            </a:xfrm>
            <a:prstGeom prst="rect">
              <a:avLst/>
            </a:prstGeom>
          </p:spPr>
          <p:txBody>
            <a:bodyPr lIns="50800" tIns="50800" rIns="50800" bIns="50800" rtlCol="0" anchor="ctr"/>
            <a:lstStyle/>
            <a:p>
              <a:pPr algn="ctr">
                <a:lnSpc>
                  <a:spcPts val="2659"/>
                </a:lnSpc>
              </a:pPr>
              <a:endParaRPr/>
            </a:p>
          </p:txBody>
        </p:sp>
      </p:grpSp>
      <p:sp>
        <p:nvSpPr>
          <p:cNvPr id="13" name="Freeform 13"/>
          <p:cNvSpPr/>
          <p:nvPr/>
        </p:nvSpPr>
        <p:spPr>
          <a:xfrm>
            <a:off x="364491" y="408598"/>
            <a:ext cx="433631" cy="288907"/>
          </a:xfrm>
          <a:custGeom>
            <a:avLst/>
            <a:gdLst/>
            <a:ahLst/>
            <a:cxnLst/>
            <a:rect l="l" t="t" r="r" b="b"/>
            <a:pathLst>
              <a:path w="433631" h="288907">
                <a:moveTo>
                  <a:pt x="0" y="0"/>
                </a:moveTo>
                <a:lnTo>
                  <a:pt x="433631" y="0"/>
                </a:lnTo>
                <a:lnTo>
                  <a:pt x="433631" y="288907"/>
                </a:lnTo>
                <a:lnTo>
                  <a:pt x="0" y="288907"/>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4" name="Group 14"/>
          <p:cNvGrpSpPr/>
          <p:nvPr/>
        </p:nvGrpSpPr>
        <p:grpSpPr>
          <a:xfrm>
            <a:off x="16840116" y="9677014"/>
            <a:ext cx="281957" cy="28195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17261009" y="9677014"/>
            <a:ext cx="281957" cy="28195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17681902" y="9677014"/>
            <a:ext cx="281957" cy="28195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2200006" y="1946842"/>
            <a:ext cx="6724963" cy="1368449"/>
          </a:xfrm>
          <a:prstGeom prst="rect">
            <a:avLst/>
          </a:prstGeom>
        </p:spPr>
        <p:txBody>
          <a:bodyPr lIns="0" tIns="0" rIns="0" bIns="0" rtlCol="0" anchor="t">
            <a:spAutoFit/>
          </a:bodyPr>
          <a:lstStyle/>
          <a:p>
            <a:pPr algn="l">
              <a:lnSpc>
                <a:spcPts val="11297"/>
              </a:lnSpc>
              <a:spcBef>
                <a:spcPct val="0"/>
              </a:spcBef>
            </a:pPr>
            <a:r>
              <a:rPr lang="en-US" sz="8069" b="1" spc="-193">
                <a:solidFill>
                  <a:srgbClr val="2B2B2B"/>
                </a:solidFill>
                <a:latin typeface="Montserrat Ultra-Bold"/>
                <a:ea typeface="Montserrat Ultra-Bold"/>
                <a:cs typeface="Montserrat Ultra-Bold"/>
                <a:sym typeface="Montserrat Ultra-Bold"/>
              </a:rPr>
              <a:t>Conclusion</a:t>
            </a:r>
          </a:p>
        </p:txBody>
      </p:sp>
      <p:sp>
        <p:nvSpPr>
          <p:cNvPr id="24" name="TextBox 24"/>
          <p:cNvSpPr txBox="1"/>
          <p:nvPr/>
        </p:nvSpPr>
        <p:spPr>
          <a:xfrm>
            <a:off x="2200006" y="3481562"/>
            <a:ext cx="6724963" cy="4341926"/>
          </a:xfrm>
          <a:prstGeom prst="rect">
            <a:avLst/>
          </a:prstGeom>
        </p:spPr>
        <p:txBody>
          <a:bodyPr lIns="0" tIns="0" rIns="0" bIns="0" rtlCol="0" anchor="t">
            <a:spAutoFit/>
          </a:bodyPr>
          <a:lstStyle/>
          <a:p>
            <a:pPr algn="just">
              <a:lnSpc>
                <a:spcPts val="3476"/>
              </a:lnSpc>
            </a:pPr>
            <a:r>
              <a:rPr lang="en-US" sz="2119" b="1">
                <a:solidFill>
                  <a:srgbClr val="2B2B2B"/>
                </a:solidFill>
                <a:latin typeface="Montserrat Medium"/>
                <a:ea typeface="Montserrat Medium"/>
                <a:cs typeface="Montserrat Medium"/>
                <a:sym typeface="Montserrat Medium"/>
              </a:rPr>
              <a:t>Use Straight-Line when the asset provides relatively consistent utility over time and a simple, uniform expense pattern is appropriate.</a:t>
            </a:r>
          </a:p>
          <a:p>
            <a:pPr algn="just">
              <a:lnSpc>
                <a:spcPts val="3476"/>
              </a:lnSpc>
            </a:pPr>
            <a:r>
              <a:rPr lang="en-US" sz="2119" b="1">
                <a:solidFill>
                  <a:srgbClr val="2B2B2B"/>
                </a:solidFill>
                <a:latin typeface="Montserrat Medium"/>
                <a:ea typeface="Montserrat Medium"/>
                <a:cs typeface="Montserrat Medium"/>
                <a:sym typeface="Montserrat Medium"/>
              </a:rPr>
              <a:t>Use Diminishing Balance when the asset is expected to lose value faster in its early years or become obsolete quickly.</a:t>
            </a:r>
          </a:p>
          <a:p>
            <a:pPr algn="just">
              <a:lnSpc>
                <a:spcPts val="3476"/>
              </a:lnSpc>
            </a:pPr>
            <a:r>
              <a:rPr lang="en-US" sz="2119" b="1">
                <a:solidFill>
                  <a:srgbClr val="2B2B2B"/>
                </a:solidFill>
                <a:latin typeface="Montserrat Medium"/>
                <a:ea typeface="Montserrat Medium"/>
                <a:cs typeface="Montserrat Medium"/>
                <a:sym typeface="Montserrat Medium"/>
              </a:rPr>
              <a:t>For real-world accounting/tax decisions, apply the relevant accounting standards and jurisdiction-specific rules in addition to the project model.</a:t>
            </a:r>
          </a:p>
        </p:txBody>
      </p:sp>
      <p:sp>
        <p:nvSpPr>
          <p:cNvPr id="25" name="Freeform 25"/>
          <p:cNvSpPr/>
          <p:nvPr/>
        </p:nvSpPr>
        <p:spPr>
          <a:xfrm rot="-10800000">
            <a:off x="3209987" y="-2399495"/>
            <a:ext cx="4270075" cy="4114800"/>
          </a:xfrm>
          <a:custGeom>
            <a:avLst/>
            <a:gdLst/>
            <a:ahLst/>
            <a:cxnLst/>
            <a:rect l="l" t="t" r="r" b="b"/>
            <a:pathLst>
              <a:path w="4270075" h="4114800">
                <a:moveTo>
                  <a:pt x="0" y="0"/>
                </a:moveTo>
                <a:lnTo>
                  <a:pt x="4270075" y="0"/>
                </a:lnTo>
                <a:lnTo>
                  <a:pt x="4270075"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grpSp>
        <p:nvGrpSpPr>
          <p:cNvPr id="3" name="Group 3"/>
          <p:cNvGrpSpPr/>
          <p:nvPr/>
        </p:nvGrpSpPr>
        <p:grpSpPr>
          <a:xfrm>
            <a:off x="1372163" y="1028700"/>
            <a:ext cx="15543674" cy="8305800"/>
            <a:chOff x="0" y="0"/>
            <a:chExt cx="4093807" cy="2187536"/>
          </a:xfrm>
        </p:grpSpPr>
        <p:sp>
          <p:nvSpPr>
            <p:cNvPr id="4" name="Freeform 4"/>
            <p:cNvSpPr/>
            <p:nvPr/>
          </p:nvSpPr>
          <p:spPr>
            <a:xfrm>
              <a:off x="0" y="0"/>
              <a:ext cx="4093807" cy="2187536"/>
            </a:xfrm>
            <a:custGeom>
              <a:avLst/>
              <a:gdLst/>
              <a:ahLst/>
              <a:cxnLst/>
              <a:rect l="l" t="t" r="r" b="b"/>
              <a:pathLst>
                <a:path w="4093807" h="2187536">
                  <a:moveTo>
                    <a:pt x="0" y="0"/>
                  </a:moveTo>
                  <a:lnTo>
                    <a:pt x="4093807" y="0"/>
                  </a:lnTo>
                  <a:lnTo>
                    <a:pt x="4093807" y="2187536"/>
                  </a:lnTo>
                  <a:lnTo>
                    <a:pt x="0" y="2187536"/>
                  </a:lnTo>
                  <a:close/>
                </a:path>
              </a:pathLst>
            </a:custGeom>
            <a:solidFill>
              <a:srgbClr val="002269">
                <a:alpha val="69804"/>
              </a:srgbClr>
            </a:solidFill>
          </p:spPr>
        </p:sp>
        <p:sp>
          <p:nvSpPr>
            <p:cNvPr id="5" name="TextBox 5"/>
            <p:cNvSpPr txBox="1"/>
            <p:nvPr/>
          </p:nvSpPr>
          <p:spPr>
            <a:xfrm>
              <a:off x="0" y="-38100"/>
              <a:ext cx="4093807" cy="2225636"/>
            </a:xfrm>
            <a:prstGeom prst="rect">
              <a:avLst/>
            </a:prstGeom>
          </p:spPr>
          <p:txBody>
            <a:bodyPr lIns="50800" tIns="50800" rIns="50800" bIns="50800" rtlCol="0" anchor="ctr"/>
            <a:lstStyle/>
            <a:p>
              <a:pPr algn="ctr">
                <a:lnSpc>
                  <a:spcPts val="2659"/>
                </a:lnSpc>
              </a:pPr>
              <a:endParaRPr/>
            </a:p>
          </p:txBody>
        </p:sp>
      </p:grpSp>
      <p:sp>
        <p:nvSpPr>
          <p:cNvPr id="6" name="TextBox 6"/>
          <p:cNvSpPr txBox="1"/>
          <p:nvPr/>
        </p:nvSpPr>
        <p:spPr>
          <a:xfrm>
            <a:off x="604914" y="373787"/>
            <a:ext cx="1557765" cy="264218"/>
          </a:xfrm>
          <a:prstGeom prst="rect">
            <a:avLst/>
          </a:prstGeom>
        </p:spPr>
        <p:txBody>
          <a:bodyPr lIns="0" tIns="0" rIns="0" bIns="0" rtlCol="0" anchor="t">
            <a:spAutoFit/>
          </a:bodyPr>
          <a:lstStyle/>
          <a:p>
            <a:pPr algn="l">
              <a:lnSpc>
                <a:spcPts val="2235"/>
              </a:lnSpc>
              <a:spcBef>
                <a:spcPct val="0"/>
              </a:spcBef>
            </a:pPr>
            <a:r>
              <a:rPr lang="en-US" sz="1596" b="1" spc="-63">
                <a:solidFill>
                  <a:srgbClr val="FFFFFF"/>
                </a:solidFill>
                <a:latin typeface="Montserrat Medium"/>
                <a:ea typeface="Montserrat Medium"/>
                <a:cs typeface="Montserrat Medium"/>
                <a:sym typeface="Montserrat Medium"/>
              </a:rPr>
              <a:t>Modern Style</a:t>
            </a:r>
          </a:p>
        </p:txBody>
      </p:sp>
      <p:sp>
        <p:nvSpPr>
          <p:cNvPr id="7" name="TextBox 7"/>
          <p:cNvSpPr txBox="1"/>
          <p:nvPr/>
        </p:nvSpPr>
        <p:spPr>
          <a:xfrm>
            <a:off x="604914" y="9623634"/>
            <a:ext cx="1180920" cy="264218"/>
          </a:xfrm>
          <a:prstGeom prst="rect">
            <a:avLst/>
          </a:prstGeom>
        </p:spPr>
        <p:txBody>
          <a:bodyPr lIns="0" tIns="0" rIns="0" bIns="0" rtlCol="0" anchor="t">
            <a:spAutoFit/>
          </a:bodyPr>
          <a:lstStyle/>
          <a:p>
            <a:pPr algn="l">
              <a:lnSpc>
                <a:spcPts val="2235"/>
              </a:lnSpc>
              <a:spcBef>
                <a:spcPct val="0"/>
              </a:spcBef>
            </a:pPr>
            <a:r>
              <a:rPr lang="en-US" sz="1596" b="1" spc="-63">
                <a:solidFill>
                  <a:srgbClr val="FFFFFF"/>
                </a:solidFill>
                <a:latin typeface="Montserrat Medium"/>
                <a:ea typeface="Montserrat Medium"/>
                <a:cs typeface="Montserrat Medium"/>
                <a:sym typeface="Montserrat Medium"/>
              </a:rPr>
              <a:t>Borcelle</a:t>
            </a:r>
          </a:p>
        </p:txBody>
      </p:sp>
      <p:grpSp>
        <p:nvGrpSpPr>
          <p:cNvPr id="8" name="Group 8"/>
          <p:cNvGrpSpPr/>
          <p:nvPr/>
        </p:nvGrpSpPr>
        <p:grpSpPr>
          <a:xfrm>
            <a:off x="1393322" y="9801807"/>
            <a:ext cx="40903" cy="4090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0" name="TextBox 10"/>
            <p:cNvSpPr txBox="1"/>
            <p:nvPr/>
          </p:nvSpPr>
          <p:spPr>
            <a:xfrm>
              <a:off x="76200" y="38100"/>
              <a:ext cx="660400" cy="698500"/>
            </a:xfrm>
            <a:prstGeom prst="rect">
              <a:avLst/>
            </a:prstGeom>
          </p:spPr>
          <p:txBody>
            <a:bodyPr lIns="74078" tIns="74078" rIns="74078" bIns="74078" rtlCol="0" anchor="ctr"/>
            <a:lstStyle/>
            <a:p>
              <a:pPr algn="ctr">
                <a:lnSpc>
                  <a:spcPts val="2659"/>
                </a:lnSpc>
              </a:pPr>
              <a:endParaRPr/>
            </a:p>
          </p:txBody>
        </p:sp>
      </p:grpSp>
      <p:sp>
        <p:nvSpPr>
          <p:cNvPr id="11" name="Freeform 11"/>
          <p:cNvSpPr/>
          <p:nvPr/>
        </p:nvSpPr>
        <p:spPr>
          <a:xfrm>
            <a:off x="17240250" y="375743"/>
            <a:ext cx="433631" cy="288907"/>
          </a:xfrm>
          <a:custGeom>
            <a:avLst/>
            <a:gdLst/>
            <a:ahLst/>
            <a:cxnLst/>
            <a:rect l="l" t="t" r="r" b="b"/>
            <a:pathLst>
              <a:path w="433631" h="288907">
                <a:moveTo>
                  <a:pt x="0" y="0"/>
                </a:moveTo>
                <a:lnTo>
                  <a:pt x="433631" y="0"/>
                </a:lnTo>
                <a:lnTo>
                  <a:pt x="433631" y="288906"/>
                </a:lnTo>
                <a:lnTo>
                  <a:pt x="0" y="28890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AutoShape 13"/>
          <p:cNvSpPr/>
          <p:nvPr/>
        </p:nvSpPr>
        <p:spPr>
          <a:xfrm>
            <a:off x="8280741" y="3528733"/>
            <a:ext cx="1940561" cy="0"/>
          </a:xfrm>
          <a:prstGeom prst="line">
            <a:avLst/>
          </a:prstGeom>
          <a:ln w="38100" cap="flat">
            <a:solidFill>
              <a:srgbClr val="FFFFFF"/>
            </a:solidFill>
            <a:prstDash val="solid"/>
            <a:headEnd type="none" w="sm" len="sm"/>
            <a:tailEnd type="none" w="sm" len="sm"/>
          </a:ln>
        </p:spPr>
      </p:sp>
      <p:grpSp>
        <p:nvGrpSpPr>
          <p:cNvPr id="14" name="Group 14"/>
          <p:cNvGrpSpPr/>
          <p:nvPr/>
        </p:nvGrpSpPr>
        <p:grpSpPr>
          <a:xfrm>
            <a:off x="8717467" y="6948767"/>
            <a:ext cx="214042" cy="21404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a:off x="9036979" y="6948767"/>
            <a:ext cx="214042" cy="21404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0" name="Group 20"/>
          <p:cNvGrpSpPr/>
          <p:nvPr/>
        </p:nvGrpSpPr>
        <p:grpSpPr>
          <a:xfrm>
            <a:off x="9356491" y="6948767"/>
            <a:ext cx="214042" cy="214042"/>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7D22A"/>
            </a:solidFill>
          </p:spPr>
        </p:sp>
        <p:sp>
          <p:nvSpPr>
            <p:cNvPr id="22" name="TextBox 2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23" name="TextBox 23"/>
          <p:cNvSpPr txBox="1"/>
          <p:nvPr/>
        </p:nvSpPr>
        <p:spPr>
          <a:xfrm>
            <a:off x="3059667" y="3539515"/>
            <a:ext cx="12382708" cy="1642085"/>
          </a:xfrm>
          <a:prstGeom prst="rect">
            <a:avLst/>
          </a:prstGeom>
        </p:spPr>
        <p:txBody>
          <a:bodyPr lIns="0" tIns="0" rIns="0" bIns="0" rtlCol="0" anchor="t">
            <a:spAutoFit/>
          </a:bodyPr>
          <a:lstStyle/>
          <a:p>
            <a:pPr algn="ctr">
              <a:lnSpc>
                <a:spcPts val="13439"/>
              </a:lnSpc>
              <a:spcBef>
                <a:spcPct val="0"/>
              </a:spcBef>
            </a:pPr>
            <a:r>
              <a:rPr lang="en-US" sz="9600" b="1">
                <a:solidFill>
                  <a:srgbClr val="FFFFFF"/>
                </a:solidFill>
                <a:latin typeface="Montserrat Bold"/>
                <a:ea typeface="Montserrat Bold"/>
                <a:cs typeface="Montserrat Bold"/>
                <a:sym typeface="Montserrat Bold"/>
              </a:rPr>
              <a:t>THANK</a:t>
            </a:r>
          </a:p>
        </p:txBody>
      </p:sp>
      <p:sp>
        <p:nvSpPr>
          <p:cNvPr id="24" name="TextBox 24"/>
          <p:cNvSpPr txBox="1"/>
          <p:nvPr/>
        </p:nvSpPr>
        <p:spPr>
          <a:xfrm>
            <a:off x="3059667" y="5000625"/>
            <a:ext cx="12382708" cy="1642085"/>
          </a:xfrm>
          <a:prstGeom prst="rect">
            <a:avLst/>
          </a:prstGeom>
        </p:spPr>
        <p:txBody>
          <a:bodyPr lIns="0" tIns="0" rIns="0" bIns="0" rtlCol="0" anchor="t">
            <a:spAutoFit/>
          </a:bodyPr>
          <a:lstStyle/>
          <a:p>
            <a:pPr algn="ctr">
              <a:lnSpc>
                <a:spcPts val="13439"/>
              </a:lnSpc>
              <a:spcBef>
                <a:spcPct val="0"/>
              </a:spcBef>
            </a:pPr>
            <a:r>
              <a:rPr lang="en-US" sz="9600" b="1">
                <a:solidFill>
                  <a:srgbClr val="FFFFFF"/>
                </a:solidFill>
                <a:latin typeface="Montserrat Bold"/>
                <a:ea typeface="Montserrat Bold"/>
                <a:cs typeface="Montserrat Bold"/>
                <a:sym typeface="Montserrat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403</Words>
  <Application>Microsoft Office PowerPoint</Application>
  <PresentationFormat>Custom</PresentationFormat>
  <Paragraphs>48</Paragraphs>
  <Slides>9</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9</vt:i4>
      </vt:variant>
    </vt:vector>
  </HeadingPairs>
  <TitlesOfParts>
    <vt:vector size="17" baseType="lpstr">
      <vt:lpstr>Montserrat Medium</vt:lpstr>
      <vt:lpstr>Montserrat Ultra-Bold</vt:lpstr>
      <vt:lpstr>Calibri</vt:lpstr>
      <vt:lpstr>Arial</vt:lpstr>
      <vt:lpstr>Montserrat Bold</vt:lpstr>
      <vt:lpstr>Montserrat</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Analysis of Depreciation Methods</dc:title>
  <cp:lastModifiedBy>SRIJITA SARKAR</cp:lastModifiedBy>
  <cp:revision>2</cp:revision>
  <dcterms:created xsi:type="dcterms:W3CDTF">2006-08-16T00:00:00Z</dcterms:created>
  <dcterms:modified xsi:type="dcterms:W3CDTF">2026-09-13T21:44:15Z</dcterms:modified>
  <dc:identifier>DAHVGmjR6IA</dc:identifier>
</cp:coreProperties>
</file>